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365" r:id="rId2"/>
    <p:sldId id="302" r:id="rId3"/>
    <p:sldId id="366" r:id="rId4"/>
    <p:sldId id="367" r:id="rId5"/>
    <p:sldId id="368" r:id="rId6"/>
    <p:sldId id="371" r:id="rId7"/>
    <p:sldId id="37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0" d="100"/>
          <a:sy n="70" d="100"/>
        </p:scale>
        <p:origin x="50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EC5758-4631-433C-B370-F55D3D292EE0}" type="datetimeFigureOut">
              <a:rPr lang="en-GB" smtClean="0"/>
              <a:t>24/02/2026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E6A89-0DAF-41FF-9E49-CBA410B91F5D}" type="slidenum">
              <a:rPr lang="en-GB" smtClean="0"/>
              <a:t>‹#›</a:t>
            </a:fld>
            <a:endParaRPr lang="en-GB"/>
          </a:p>
        </p:txBody>
      </p:sp>
    </p:spTree>
    <p:extLst>
      <p:ext uri="{BB962C8B-B14F-4D97-AF65-F5344CB8AC3E}">
        <p14:creationId xmlns:p14="http://schemas.microsoft.com/office/powerpoint/2010/main" val="1555423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9EE6A89-0DAF-41FF-9E49-CBA410B91F5D}" type="slidenum">
              <a:rPr lang="en-GB" smtClean="0"/>
              <a:t>1</a:t>
            </a:fld>
            <a:endParaRPr lang="en-GB"/>
          </a:p>
        </p:txBody>
      </p:sp>
    </p:spTree>
    <p:extLst>
      <p:ext uri="{BB962C8B-B14F-4D97-AF65-F5344CB8AC3E}">
        <p14:creationId xmlns:p14="http://schemas.microsoft.com/office/powerpoint/2010/main" val="2834455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9EE6A89-0DAF-41FF-9E49-CBA410B91F5D}" type="slidenum">
              <a:rPr lang="en-GB" smtClean="0"/>
              <a:t>3</a:t>
            </a:fld>
            <a:endParaRPr lang="en-GB"/>
          </a:p>
        </p:txBody>
      </p:sp>
    </p:spTree>
    <p:extLst>
      <p:ext uri="{BB962C8B-B14F-4D97-AF65-F5344CB8AC3E}">
        <p14:creationId xmlns:p14="http://schemas.microsoft.com/office/powerpoint/2010/main" val="170970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57E2-6B93-F1C5-0366-11218567F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F2242-E146-A4A9-EC7C-CDC5A5BA6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7B740-16E3-1C36-7642-77B4258F92B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7FFB988-B1EC-F515-D803-0442B1EFBFC0}"/>
              </a:ext>
            </a:extLst>
          </p:cNvPr>
          <p:cNvSpPr>
            <a:spLocks noGrp="1"/>
          </p:cNvSpPr>
          <p:nvPr>
            <p:ph type="sldNum" sz="quarter" idx="5"/>
          </p:nvPr>
        </p:nvSpPr>
        <p:spPr/>
        <p:txBody>
          <a:bodyPr/>
          <a:lstStyle/>
          <a:p>
            <a:fld id="{C9EE6A89-0DAF-41FF-9E49-CBA410B91F5D}" type="slidenum">
              <a:rPr lang="en-GB" smtClean="0"/>
              <a:t>4</a:t>
            </a:fld>
            <a:endParaRPr lang="en-GB"/>
          </a:p>
        </p:txBody>
      </p:sp>
    </p:spTree>
    <p:extLst>
      <p:ext uri="{BB962C8B-B14F-4D97-AF65-F5344CB8AC3E}">
        <p14:creationId xmlns:p14="http://schemas.microsoft.com/office/powerpoint/2010/main" val="733778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FE8E1-CBDD-F95C-3AA3-440E4ED9B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48201-A722-164F-93A3-D3F2F2369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F62D5-ED2F-C50B-D6D7-1B5BAE4BDD1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F265CA7-9D64-FAE3-70B7-9288D1680F7D}"/>
              </a:ext>
            </a:extLst>
          </p:cNvPr>
          <p:cNvSpPr>
            <a:spLocks noGrp="1"/>
          </p:cNvSpPr>
          <p:nvPr>
            <p:ph type="sldNum" sz="quarter" idx="5"/>
          </p:nvPr>
        </p:nvSpPr>
        <p:spPr/>
        <p:txBody>
          <a:bodyPr/>
          <a:lstStyle/>
          <a:p>
            <a:fld id="{C9EE6A89-0DAF-41FF-9E49-CBA410B91F5D}" type="slidenum">
              <a:rPr lang="en-GB" smtClean="0"/>
              <a:t>5</a:t>
            </a:fld>
            <a:endParaRPr lang="en-GB"/>
          </a:p>
        </p:txBody>
      </p:sp>
    </p:spTree>
    <p:extLst>
      <p:ext uri="{BB962C8B-B14F-4D97-AF65-F5344CB8AC3E}">
        <p14:creationId xmlns:p14="http://schemas.microsoft.com/office/powerpoint/2010/main" val="2367188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7894B-3412-9B3A-3100-26809251D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194F2-D9E8-1D6B-964B-516F96728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815AA-53F1-5965-6D40-A53E0B6BD02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9C9F882-C331-FF07-786C-4E6043CF0221}"/>
              </a:ext>
            </a:extLst>
          </p:cNvPr>
          <p:cNvSpPr>
            <a:spLocks noGrp="1"/>
          </p:cNvSpPr>
          <p:nvPr>
            <p:ph type="sldNum" sz="quarter" idx="5"/>
          </p:nvPr>
        </p:nvSpPr>
        <p:spPr/>
        <p:txBody>
          <a:bodyPr/>
          <a:lstStyle/>
          <a:p>
            <a:fld id="{C9EE6A89-0DAF-41FF-9E49-CBA410B91F5D}" type="slidenum">
              <a:rPr lang="en-GB" smtClean="0"/>
              <a:t>6</a:t>
            </a:fld>
            <a:endParaRPr lang="en-GB"/>
          </a:p>
        </p:txBody>
      </p:sp>
    </p:spTree>
    <p:extLst>
      <p:ext uri="{BB962C8B-B14F-4D97-AF65-F5344CB8AC3E}">
        <p14:creationId xmlns:p14="http://schemas.microsoft.com/office/powerpoint/2010/main" val="361639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7A337-FC37-04E7-8FE5-C26EA11CF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1124C-F415-0F7E-1B2F-4D37D6746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2BEC0-C5DF-77A3-C478-BD2142BC872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3EC624-E4BC-BDF6-324F-1449F84A3818}"/>
              </a:ext>
            </a:extLst>
          </p:cNvPr>
          <p:cNvSpPr>
            <a:spLocks noGrp="1"/>
          </p:cNvSpPr>
          <p:nvPr>
            <p:ph type="sldNum" sz="quarter" idx="5"/>
          </p:nvPr>
        </p:nvSpPr>
        <p:spPr/>
        <p:txBody>
          <a:bodyPr/>
          <a:lstStyle/>
          <a:p>
            <a:fld id="{C9EE6A89-0DAF-41FF-9E49-CBA410B91F5D}" type="slidenum">
              <a:rPr lang="en-GB" smtClean="0"/>
              <a:t>7</a:t>
            </a:fld>
            <a:endParaRPr lang="en-GB"/>
          </a:p>
        </p:txBody>
      </p:sp>
    </p:spTree>
    <p:extLst>
      <p:ext uri="{BB962C8B-B14F-4D97-AF65-F5344CB8AC3E}">
        <p14:creationId xmlns:p14="http://schemas.microsoft.com/office/powerpoint/2010/main" val="2662349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3271663-423A-5497-6DFA-E93C4B558CB2}"/>
              </a:ext>
            </a:extLst>
          </p:cNvPr>
          <p:cNvSpPr>
            <a:spLocks noGrp="1"/>
          </p:cNvSpPr>
          <p:nvPr>
            <p:ph type="title"/>
          </p:nvPr>
        </p:nvSpPr>
        <p:spPr>
          <a:xfrm>
            <a:off x="371476" y="404813"/>
            <a:ext cx="5545138" cy="1044000"/>
          </a:xfrm>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8153F59D-42F5-8929-5A12-7AB6000422C9}"/>
              </a:ext>
            </a:extLst>
          </p:cNvPr>
          <p:cNvSpPr>
            <a:spLocks noGrp="1"/>
          </p:cNvSpPr>
          <p:nvPr>
            <p:ph idx="1"/>
          </p:nvPr>
        </p:nvSpPr>
        <p:spPr>
          <a:xfrm>
            <a:off x="371476" y="1773238"/>
            <a:ext cx="5545138" cy="4716462"/>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787537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11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37C5C1F-0B94-9A1D-623D-0CB89E43CB5E}"/>
              </a:ext>
            </a:extLst>
          </p:cNvPr>
          <p:cNvSpPr>
            <a:spLocks noGrp="1"/>
          </p:cNvSpPr>
          <p:nvPr>
            <p:ph type="title"/>
          </p:nvPr>
        </p:nvSpPr>
        <p:spPr>
          <a:xfrm>
            <a:off x="371476" y="404813"/>
            <a:ext cx="5545138" cy="1044000"/>
          </a:xfrm>
        </p:spPr>
        <p:txBody>
          <a:body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EEE422C-7992-15E0-D60C-78E0058B2695}"/>
              </a:ext>
            </a:extLst>
          </p:cNvPr>
          <p:cNvSpPr>
            <a:spLocks noGrp="1"/>
          </p:cNvSpPr>
          <p:nvPr>
            <p:ph idx="1"/>
          </p:nvPr>
        </p:nvSpPr>
        <p:spPr>
          <a:xfrm>
            <a:off x="371476" y="1773238"/>
            <a:ext cx="5545138" cy="4716462"/>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10">
            <a:extLst>
              <a:ext uri="{FF2B5EF4-FFF2-40B4-BE49-F238E27FC236}">
                <a16:creationId xmlns:a16="http://schemas.microsoft.com/office/drawing/2014/main" id="{1E72BE8A-059A-61A0-7341-9187B23533C3}"/>
              </a:ext>
            </a:extLst>
          </p:cNvPr>
          <p:cNvSpPr>
            <a:spLocks noGrp="1"/>
          </p:cNvSpPr>
          <p:nvPr>
            <p:ph type="pic" sz="quarter" idx="10"/>
          </p:nvPr>
        </p:nvSpPr>
        <p:spPr>
          <a:xfrm>
            <a:off x="6275388" y="1773238"/>
            <a:ext cx="5545137" cy="4716462"/>
          </a:xfrm>
        </p:spPr>
        <p:txBody>
          <a:bodyPr/>
          <a:lstStyle/>
          <a:p>
            <a:r>
              <a:rPr lang="en-US"/>
              <a:t>Click icon to add picture</a:t>
            </a:r>
            <a:endParaRPr lang="en-GB"/>
          </a:p>
        </p:txBody>
      </p:sp>
    </p:spTree>
    <p:extLst>
      <p:ext uri="{BB962C8B-B14F-4D97-AF65-F5344CB8AC3E}">
        <p14:creationId xmlns:p14="http://schemas.microsoft.com/office/powerpoint/2010/main" val="16907637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C82C13-F7BA-6430-B0E7-C44E1FA0D30E}"/>
              </a:ext>
            </a:extLst>
          </p:cNvPr>
          <p:cNvSpPr>
            <a:spLocks noGrp="1"/>
          </p:cNvSpPr>
          <p:nvPr>
            <p:ph type="title"/>
          </p:nvPr>
        </p:nvSpPr>
        <p:spPr>
          <a:xfrm>
            <a:off x="371475" y="404813"/>
            <a:ext cx="5545138" cy="10440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A51755F-780A-DDD1-5F70-57C7C931B73B}"/>
              </a:ext>
            </a:extLst>
          </p:cNvPr>
          <p:cNvSpPr>
            <a:spLocks noGrp="1"/>
          </p:cNvSpPr>
          <p:nvPr>
            <p:ph type="body" idx="1"/>
          </p:nvPr>
        </p:nvSpPr>
        <p:spPr>
          <a:xfrm>
            <a:off x="377653" y="1773238"/>
            <a:ext cx="5538960" cy="471646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Tree>
    <p:extLst>
      <p:ext uri="{BB962C8B-B14F-4D97-AF65-F5344CB8AC3E}">
        <p14:creationId xmlns:p14="http://schemas.microsoft.com/office/powerpoint/2010/main" val="361066858"/>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100000"/>
        </a:lnSpc>
        <a:spcBef>
          <a:spcPts val="1000"/>
        </a:spcBef>
        <a:spcAft>
          <a:spcPts val="2000"/>
        </a:spcAft>
        <a:buNone/>
        <a:defRPr sz="3400" b="1" i="0" kern="1200">
          <a:solidFill>
            <a:schemeClr val="tx1"/>
          </a:solidFill>
          <a:latin typeface="Poppins" pitchFamily="2" charset="77"/>
          <a:ea typeface="+mj-ea"/>
          <a:cs typeface="Poppins" pitchFamily="2" charset="77"/>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b="1" i="0" kern="1200">
          <a:solidFill>
            <a:schemeClr val="tx1"/>
          </a:solidFill>
          <a:latin typeface="Poppins" pitchFamily="2" charset="77"/>
          <a:ea typeface="+mn-ea"/>
          <a:cs typeface="Poppins" pitchFamily="2" charset="77"/>
        </a:defRPr>
      </a:lvl1pPr>
      <a:lvl2pPr marL="457200" indent="0" algn="l" defTabSz="914400" rtl="0" eaLnBrk="1" latinLnBrk="0" hangingPunct="1">
        <a:lnSpc>
          <a:spcPct val="100000"/>
        </a:lnSpc>
        <a:spcBef>
          <a:spcPts val="0"/>
        </a:spcBef>
        <a:spcAft>
          <a:spcPts val="1000"/>
        </a:spcAft>
        <a:buFont typeface="Arial" panose="020B0604020202020204" pitchFamily="34" charset="0"/>
        <a:buNone/>
        <a:defRPr sz="2000" b="0" i="0" kern="1200">
          <a:solidFill>
            <a:schemeClr val="tx1"/>
          </a:solidFill>
          <a:latin typeface="Poppins" pitchFamily="2" charset="77"/>
          <a:ea typeface="+mn-ea"/>
          <a:cs typeface="Poppins" pitchFamily="2" charset="77"/>
        </a:defRPr>
      </a:lvl2pPr>
      <a:lvl3pPr marL="914400" indent="0" algn="l" defTabSz="914400" rtl="0" eaLnBrk="1" latinLnBrk="0" hangingPunct="1">
        <a:lnSpc>
          <a:spcPct val="100000"/>
        </a:lnSpc>
        <a:spcBef>
          <a:spcPts val="0"/>
        </a:spcBef>
        <a:spcAft>
          <a:spcPts val="1000"/>
        </a:spcAft>
        <a:buFont typeface="Arial" panose="020B0604020202020204" pitchFamily="34" charset="0"/>
        <a:buNone/>
        <a:defRPr sz="1400" b="0" i="0" kern="1200">
          <a:solidFill>
            <a:schemeClr val="tx1"/>
          </a:solidFill>
          <a:latin typeface="Poppins" pitchFamily="2" charset="77"/>
          <a:ea typeface="+mn-ea"/>
          <a:cs typeface="Poppins" pitchFamily="2" charset="77"/>
        </a:defRPr>
      </a:lvl3pPr>
      <a:lvl4pPr marL="1371600" indent="0" algn="l" defTabSz="914400" rtl="0" eaLnBrk="1" latinLnBrk="0" hangingPunct="1">
        <a:lnSpc>
          <a:spcPct val="100000"/>
        </a:lnSpc>
        <a:spcBef>
          <a:spcPts val="0"/>
        </a:spcBef>
        <a:spcAft>
          <a:spcPts val="1000"/>
        </a:spcAft>
        <a:buFont typeface="Arial" panose="020B0604020202020204" pitchFamily="34" charset="0"/>
        <a:buNone/>
        <a:defRPr sz="1300" b="0" i="0" kern="1200">
          <a:solidFill>
            <a:schemeClr val="accent1"/>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55">
          <p15:clr>
            <a:srgbClr val="F26B43"/>
          </p15:clr>
        </p15:guide>
        <p15:guide id="4" pos="234">
          <p15:clr>
            <a:srgbClr val="F26B43"/>
          </p15:clr>
        </p15:guide>
        <p15:guide id="5" pos="7446">
          <p15:clr>
            <a:srgbClr val="F26B43"/>
          </p15:clr>
        </p15:guide>
        <p15:guide id="6" orient="horz" pos="4088">
          <p15:clr>
            <a:srgbClr val="F26B43"/>
          </p15:clr>
        </p15:guide>
        <p15:guide id="7" orient="horz" pos="1117">
          <p15:clr>
            <a:srgbClr val="F26B43"/>
          </p15:clr>
        </p15:guide>
        <p15:guide id="8" pos="3953">
          <p15:clr>
            <a:srgbClr val="F26B43"/>
          </p15:clr>
        </p15:guide>
        <p15:guide id="9" pos="372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aymo.com/blog/2025/10/hello-london-your-waymo-ride-is-arriving?utm_source=chatgpt.com" TargetMode="External"/><Relationship Id="rId4" Type="http://schemas.openxmlformats.org/officeDocument/2006/relationships/hyperlink" Target="https://www.gov.uk/government/news/self-driving-vehicles-set-to-be-on-roads-by-2026-as-automated-vehicles-act-becomes-law?utm_source=chatgpt.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huggingface.co/datasets/nexar-ai/nexar_collision_prediction?utm_campaign=7207090-Nexar%20Open%20Dataset&amp;utm_medium=email&amp;_hsenc=p2ANqtz-8ZHg1qADRhsVFUxji-TPgZx_f3H_mm9-S4MkzDy0xSG7yqE7aOmj7z9dCigOstf1Y8R3XnRX9HILsd87rh5D-QqELNHA&amp;_hsmi=2&amp;utm_content=2&amp;utm_source=hs_emai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1BD3325-BEF6-EA87-96F9-B91214E24FA0}"/>
            </a:ext>
          </a:extLst>
        </p:cNvPr>
        <p:cNvGrpSpPr/>
        <p:nvPr/>
      </p:nvGrpSpPr>
      <p:grpSpPr>
        <a:xfrm>
          <a:off x="0" y="0"/>
          <a:ext cx="0" cy="0"/>
          <a:chOff x="0" y="0"/>
          <a:chExt cx="0" cy="0"/>
        </a:xfrm>
      </p:grpSpPr>
      <p:pic>
        <p:nvPicPr>
          <p:cNvPr id="5" name="Logo-White">
            <a:extLst>
              <a:ext uri="{FF2B5EF4-FFF2-40B4-BE49-F238E27FC236}">
                <a16:creationId xmlns:a16="http://schemas.microsoft.com/office/drawing/2014/main" id="{F009A10D-EA74-B3AB-A095-D9C41C65E169}"/>
              </a:ext>
            </a:extLst>
          </p:cNvPr>
          <p:cNvPicPr>
            <a:picLocks noGrp="1" noRot="1" noChangeAspect="1" noMove="1" noResize="1" noEditPoints="1" noAdjustHandles="1" noChangeArrowheads="1" noChangeShapeType="1" noCrop="1"/>
          </p:cNvPicPr>
          <p:nvPr/>
        </p:nvPicPr>
        <p:blipFill>
          <a:blip r:embed="rId3"/>
          <a:srcRect/>
          <a:stretch/>
        </p:blipFill>
        <p:spPr>
          <a:xfrm>
            <a:off x="10380525" y="404813"/>
            <a:ext cx="1440000" cy="342178"/>
          </a:xfrm>
          <a:prstGeom prst="rect">
            <a:avLst/>
          </a:prstGeom>
        </p:spPr>
      </p:pic>
      <p:pic>
        <p:nvPicPr>
          <p:cNvPr id="2" name="Grid-Lime">
            <a:extLst>
              <a:ext uri="{FF2B5EF4-FFF2-40B4-BE49-F238E27FC236}">
                <a16:creationId xmlns:a16="http://schemas.microsoft.com/office/drawing/2014/main" id="{F0857970-20D2-5BFB-7C96-DA60BD35E103}"/>
              </a:ext>
            </a:extLst>
          </p:cNvPr>
          <p:cNvPicPr/>
          <p:nvPr/>
        </p:nvPicPr>
        <p:blipFill>
          <a:blip r:embed="rId4"/>
          <a:srcRect/>
          <a:stretch/>
        </p:blipFill>
        <p:spPr>
          <a:xfrm>
            <a:off x="143933" y="0"/>
            <a:ext cx="12192000" cy="6858000"/>
          </a:xfrm>
          <a:prstGeom prst="rect">
            <a:avLst/>
          </a:prstGeom>
        </p:spPr>
      </p:pic>
      <p:pic>
        <p:nvPicPr>
          <p:cNvPr id="4" name="Logo-White">
            <a:extLst>
              <a:ext uri="{FF2B5EF4-FFF2-40B4-BE49-F238E27FC236}">
                <a16:creationId xmlns:a16="http://schemas.microsoft.com/office/drawing/2014/main" id="{F7892C1E-8EF9-DA48-5EE4-6FA8DB61D56A}"/>
              </a:ext>
            </a:extLst>
          </p:cNvPr>
          <p:cNvPicPr/>
          <p:nvPr/>
        </p:nvPicPr>
        <p:blipFill>
          <a:blip r:embed="rId3"/>
          <a:srcRect/>
          <a:stretch/>
        </p:blipFill>
        <p:spPr>
          <a:xfrm>
            <a:off x="10380525" y="404813"/>
            <a:ext cx="1440000" cy="342178"/>
          </a:xfrm>
          <a:prstGeom prst="rect">
            <a:avLst/>
          </a:prstGeom>
        </p:spPr>
      </p:pic>
      <p:sp>
        <p:nvSpPr>
          <p:cNvPr id="6" name="Subtitle 2">
            <a:extLst>
              <a:ext uri="{FF2B5EF4-FFF2-40B4-BE49-F238E27FC236}">
                <a16:creationId xmlns:a16="http://schemas.microsoft.com/office/drawing/2014/main" id="{40092374-C05E-BA81-2C49-687D7DA0BA4C}"/>
              </a:ext>
            </a:extLst>
          </p:cNvPr>
          <p:cNvSpPr txBox="1">
            <a:spLocks/>
          </p:cNvSpPr>
          <p:nvPr/>
        </p:nvSpPr>
        <p:spPr>
          <a:xfrm>
            <a:off x="383487" y="1741399"/>
            <a:ext cx="10343780" cy="3375202"/>
          </a:xfrm>
          <a:prstGeom prst="rect">
            <a:avLst/>
          </a:prstGeom>
          <a:solidFill>
            <a:schemeClr val="accent1"/>
          </a:solidFill>
        </p:spPr>
        <p:txBody>
          <a:bodyPr vert="horz" lIns="9000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sz="6600" b="1" dirty="0">
                <a:solidFill>
                  <a:schemeClr val="bg2"/>
                </a:solidFill>
                <a:latin typeface="Poppins" pitchFamily="2" charset="77"/>
                <a:cs typeface="Poppins" pitchFamily="2" charset="77"/>
              </a:rPr>
              <a:t>2026 Imperial College EEE Project</a:t>
            </a:r>
          </a:p>
          <a:p>
            <a:pPr marL="0" indent="0">
              <a:lnSpc>
                <a:spcPct val="100000"/>
              </a:lnSpc>
              <a:spcAft>
                <a:spcPts val="1000"/>
              </a:spcAft>
              <a:buNone/>
            </a:pPr>
            <a:r>
              <a:rPr lang="en-US" b="1" dirty="0">
                <a:solidFill>
                  <a:schemeClr val="accent5"/>
                </a:solidFill>
                <a:latin typeface="Poppins" pitchFamily="2" charset="77"/>
                <a:cs typeface="Poppins" pitchFamily="2" charset="77"/>
              </a:rPr>
              <a:t>UK Driverless Vehicle Edge-Case Intelligence Platform</a:t>
            </a:r>
          </a:p>
        </p:txBody>
      </p:sp>
    </p:spTree>
    <p:extLst>
      <p:ext uri="{BB962C8B-B14F-4D97-AF65-F5344CB8AC3E}">
        <p14:creationId xmlns:p14="http://schemas.microsoft.com/office/powerpoint/2010/main" val="536235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8C159-08E9-23AD-6FA8-FB25D609FA6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3661811-1E47-86FC-E78E-B083A0796095}"/>
              </a:ext>
            </a:extLst>
          </p:cNvPr>
          <p:cNvPicPr>
            <a:picLocks noChangeAspect="1"/>
          </p:cNvPicPr>
          <p:nvPr/>
        </p:nvPicPr>
        <p:blipFill>
          <a:blip r:embed="rId2">
            <a:extLst>
              <a:ext uri="{28A0092B-C50C-407E-A947-70E740481C1C}">
                <a14:useLocalDpi xmlns:a14="http://schemas.microsoft.com/office/drawing/2010/main" val="0"/>
              </a:ext>
            </a:extLst>
          </a:blip>
          <a:srcRect t="70" b="70"/>
          <a:stretch/>
        </p:blipFill>
        <p:spPr>
          <a:xfrm>
            <a:off x="370243" y="1766706"/>
            <a:ext cx="1908000" cy="1908000"/>
          </a:xfrm>
          <a:prstGeom prst="ellipse">
            <a:avLst/>
          </a:prstGeom>
        </p:spPr>
      </p:pic>
      <p:pic>
        <p:nvPicPr>
          <p:cNvPr id="4" name="Picture 3">
            <a:extLst>
              <a:ext uri="{FF2B5EF4-FFF2-40B4-BE49-F238E27FC236}">
                <a16:creationId xmlns:a16="http://schemas.microsoft.com/office/drawing/2014/main" id="{C4CE8CF5-3348-C03F-8ABE-B9EB5956E1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0243" y="4254219"/>
            <a:ext cx="1908000" cy="1908000"/>
          </a:xfrm>
          <a:prstGeom prst="ellipse">
            <a:avLst/>
          </a:prstGeom>
        </p:spPr>
      </p:pic>
      <p:sp>
        <p:nvSpPr>
          <p:cNvPr id="5" name="Subtitle 2">
            <a:extLst>
              <a:ext uri="{FF2B5EF4-FFF2-40B4-BE49-F238E27FC236}">
                <a16:creationId xmlns:a16="http://schemas.microsoft.com/office/drawing/2014/main" id="{E0E52BC0-15D4-F1C6-7081-1F8D8B4AE602}"/>
              </a:ext>
            </a:extLst>
          </p:cNvPr>
          <p:cNvSpPr>
            <a:spLocks noGrp="1"/>
          </p:cNvSpPr>
          <p:nvPr>
            <p:ph type="subTitle" idx="4294967295"/>
          </p:nvPr>
        </p:nvSpPr>
        <p:spPr>
          <a:xfrm>
            <a:off x="370243" y="279296"/>
            <a:ext cx="5545138" cy="1040013"/>
          </a:xfrm>
          <a:solidFill>
            <a:schemeClr val="bg1"/>
          </a:solidFill>
        </p:spPr>
        <p:txBody>
          <a:bodyPr lIns="90000">
            <a:noAutofit/>
          </a:bodyPr>
          <a:lstStyle/>
          <a:p>
            <a:pPr marL="0" indent="0" algn="l">
              <a:lnSpc>
                <a:spcPct val="100000"/>
              </a:lnSpc>
              <a:spcAft>
                <a:spcPts val="1000"/>
              </a:spcAft>
              <a:buNone/>
            </a:pPr>
            <a:r>
              <a:rPr lang="en-US" sz="4800" b="1" dirty="0">
                <a:latin typeface="Poppins" pitchFamily="2" charset="77"/>
                <a:cs typeface="Poppins" pitchFamily="2" charset="77"/>
              </a:rPr>
              <a:t>Your Supervisors</a:t>
            </a:r>
            <a:endParaRPr lang="en-US" sz="3600" b="1" dirty="0">
              <a:latin typeface="Poppins" pitchFamily="2" charset="77"/>
              <a:cs typeface="Poppins" pitchFamily="2" charset="77"/>
            </a:endParaRPr>
          </a:p>
        </p:txBody>
      </p:sp>
      <p:sp>
        <p:nvSpPr>
          <p:cNvPr id="29" name="Subtitle 2">
            <a:extLst>
              <a:ext uri="{FF2B5EF4-FFF2-40B4-BE49-F238E27FC236}">
                <a16:creationId xmlns:a16="http://schemas.microsoft.com/office/drawing/2014/main" id="{C953AF40-60BB-AA8C-407C-48FEFD6E06DA}"/>
              </a:ext>
            </a:extLst>
          </p:cNvPr>
          <p:cNvSpPr txBox="1">
            <a:spLocks/>
          </p:cNvSpPr>
          <p:nvPr/>
        </p:nvSpPr>
        <p:spPr>
          <a:xfrm>
            <a:off x="2502776" y="1761662"/>
            <a:ext cx="7708023" cy="1908001"/>
          </a:xfrm>
          <a:prstGeom prst="rect">
            <a:avLst/>
          </a:prstGeom>
          <a:solidFill>
            <a:schemeClr val="bg1"/>
          </a:solidFill>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ts val="1000"/>
              </a:spcAft>
              <a:buClrTx/>
              <a:buSzTx/>
              <a:buFontTx/>
              <a:buNone/>
              <a:tabLst/>
              <a:defRPr/>
            </a:pPr>
            <a:r>
              <a:rPr kumimoji="0" lang="en-US" altLang="en-US" sz="1400" b="1" i="0" u="none" strike="noStrike" kern="1200" cap="none" spc="0" normalizeH="0" baseline="0" noProof="0" dirty="0">
                <a:ln>
                  <a:noFill/>
                </a:ln>
                <a:effectLst/>
                <a:uLnTx/>
                <a:uFillTx/>
                <a:latin typeface="Poppins" pitchFamily="2" charset="77"/>
                <a:ea typeface="Aptos" panose="020B0004020202020204" pitchFamily="34" charset="0"/>
                <a:cs typeface="Times New Roman" panose="02020603050405020304" pitchFamily="18" charset="0"/>
              </a:rPr>
              <a:t>Balazs </a:t>
            </a:r>
            <a:r>
              <a:rPr kumimoji="0" lang="en-US" altLang="en-US" sz="1400" b="1" i="0" u="none" strike="noStrike" kern="1200" cap="none" spc="0" normalizeH="0" baseline="0" noProof="0" dirty="0" err="1">
                <a:ln>
                  <a:noFill/>
                </a:ln>
                <a:effectLst/>
                <a:uLnTx/>
                <a:uFillTx/>
                <a:latin typeface="Poppins" pitchFamily="2" charset="77"/>
                <a:ea typeface="Aptos" panose="020B0004020202020204" pitchFamily="34" charset="0"/>
                <a:cs typeface="Times New Roman" panose="02020603050405020304" pitchFamily="18" charset="0"/>
              </a:rPr>
              <a:t>Csuvar</a:t>
            </a:r>
            <a:br>
              <a:rPr kumimoji="0" lang="en-US" altLang="en-US" sz="1400" b="1" i="0" u="none" strike="noStrike" kern="1200" cap="none" spc="0" normalizeH="0" baseline="0" noProof="0" dirty="0">
                <a:ln>
                  <a:noFill/>
                </a:ln>
                <a:effectLst/>
                <a:uLnTx/>
                <a:uFillTx/>
                <a:latin typeface="Poppins" pitchFamily="2" charset="77"/>
                <a:ea typeface="Aptos" panose="020B0004020202020204" pitchFamily="34" charset="0"/>
                <a:cs typeface="Times New Roman" panose="02020603050405020304" pitchFamily="18" charset="0"/>
              </a:rPr>
            </a:br>
            <a:r>
              <a:rPr lang="en-US" sz="1400" b="1" dirty="0">
                <a:latin typeface="Poppins" pitchFamily="2" charset="77"/>
                <a:cs typeface="Times New Roman" panose="02020603050405020304" pitchFamily="18" charset="0"/>
              </a:rPr>
              <a:t>Director of Innovation &amp; Net Zero, DG Cities</a:t>
            </a:r>
            <a:br>
              <a:rPr lang="en-US" sz="1400" dirty="0">
                <a:solidFill>
                  <a:srgbClr val="000000"/>
                </a:solidFill>
                <a:latin typeface="Poppins" pitchFamily="2" charset="77"/>
                <a:cs typeface="Times New Roman" panose="02020603050405020304" pitchFamily="18" charset="0"/>
              </a:rPr>
            </a:br>
            <a:r>
              <a:rPr lang="en-US" sz="1400" dirty="0" err="1">
                <a:solidFill>
                  <a:schemeClr val="accent1"/>
                </a:solidFill>
                <a:latin typeface="Poppins" pitchFamily="2" charset="77"/>
                <a:cs typeface="Times New Roman" panose="02020603050405020304" pitchFamily="18" charset="0"/>
              </a:rPr>
              <a:t>balazs.csuvar</a:t>
            </a:r>
            <a:r>
              <a:rPr kumimoji="0" lang="en-US" sz="1400" i="0" u="none" strike="noStrike" kern="1200" cap="none" spc="0" normalizeH="0" baseline="0" noProof="0" dirty="0">
                <a:ln>
                  <a:noFill/>
                </a:ln>
                <a:solidFill>
                  <a:schemeClr val="accent1"/>
                </a:solidFill>
                <a:effectLst/>
                <a:uLnTx/>
                <a:uFillTx/>
                <a:latin typeface="Poppins" pitchFamily="2" charset="77"/>
                <a:ea typeface="+mn-ea"/>
                <a:cs typeface="Times New Roman" panose="02020603050405020304" pitchFamily="18" charset="0"/>
              </a:rPr>
              <a:t>@dgcities.com</a:t>
            </a:r>
          </a:p>
          <a:p>
            <a:pPr algn="l" eaLnBrk="0" fontAlgn="base" hangingPunct="0">
              <a:lnSpc>
                <a:spcPct val="100000"/>
              </a:lnSpc>
              <a:spcBef>
                <a:spcPct val="0"/>
              </a:spcBef>
              <a:spcAft>
                <a:spcPts val="1000"/>
              </a:spcAft>
              <a:defRPr/>
            </a:pPr>
            <a:r>
              <a:rPr lang="en-US" sz="1300" dirty="0">
                <a:solidFill>
                  <a:srgbClr val="000000"/>
                </a:solidFill>
                <a:latin typeface="Poppins" pitchFamily="2" charset="77"/>
                <a:cs typeface="Times New Roman" panose="02020603050405020304" pitchFamily="18" charset="0"/>
              </a:rPr>
              <a:t>Imperial College </a:t>
            </a:r>
            <a:r>
              <a:rPr lang="en-US" sz="1300" dirty="0" err="1">
                <a:solidFill>
                  <a:srgbClr val="000000"/>
                </a:solidFill>
                <a:latin typeface="Poppins" pitchFamily="2" charset="77"/>
                <a:cs typeface="Times New Roman" panose="02020603050405020304" pitchFamily="18" charset="0"/>
              </a:rPr>
              <a:t>CivEng</a:t>
            </a:r>
            <a:r>
              <a:rPr lang="en-US" sz="1300" dirty="0">
                <a:solidFill>
                  <a:srgbClr val="000000"/>
                </a:solidFill>
                <a:latin typeface="Poppins" pitchFamily="2" charset="77"/>
                <a:cs typeface="Times New Roman" panose="02020603050405020304" pitchFamily="18" charset="0"/>
              </a:rPr>
              <a:t> alumni. Balazs leads the delivery of our innovation projects, solving challenges through the integration of new technologies and holistic thinking. He is a civil engineer by background, with 10 years of international experience as an urban consultant, leading a wide range of projects from developing smart city strategies, planning connected and autonomous mobility, and in local government capacity building.</a:t>
            </a:r>
          </a:p>
          <a:p>
            <a:pPr algn="l" eaLnBrk="0" fontAlgn="base" hangingPunct="0">
              <a:lnSpc>
                <a:spcPct val="100000"/>
              </a:lnSpc>
              <a:spcBef>
                <a:spcPct val="0"/>
              </a:spcBef>
              <a:spcAft>
                <a:spcPts val="1000"/>
              </a:spcAft>
              <a:defRPr/>
            </a:pPr>
            <a:endParaRPr lang="en-US" sz="1300" dirty="0">
              <a:solidFill>
                <a:srgbClr val="000000"/>
              </a:solidFill>
              <a:latin typeface="Poppins" pitchFamily="2" charset="77"/>
              <a:cs typeface="Times New Roman" panose="02020603050405020304" pitchFamily="18" charset="0"/>
            </a:endParaRPr>
          </a:p>
        </p:txBody>
      </p:sp>
      <p:sp>
        <p:nvSpPr>
          <p:cNvPr id="31" name="Subtitle 2">
            <a:extLst>
              <a:ext uri="{FF2B5EF4-FFF2-40B4-BE49-F238E27FC236}">
                <a16:creationId xmlns:a16="http://schemas.microsoft.com/office/drawing/2014/main" id="{6724778D-2E14-63EA-DA0B-D7620821E756}"/>
              </a:ext>
            </a:extLst>
          </p:cNvPr>
          <p:cNvSpPr txBox="1">
            <a:spLocks/>
          </p:cNvSpPr>
          <p:nvPr/>
        </p:nvSpPr>
        <p:spPr>
          <a:xfrm>
            <a:off x="2502777" y="4242644"/>
            <a:ext cx="8517648" cy="1919576"/>
          </a:xfrm>
          <a:prstGeom prst="rect">
            <a:avLst/>
          </a:prstGeom>
          <a:solidFill>
            <a:schemeClr val="bg1"/>
          </a:solidFill>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ts val="1000"/>
              </a:spcAft>
              <a:buClrTx/>
              <a:buSzTx/>
              <a:buFontTx/>
              <a:buNone/>
              <a:tabLst/>
              <a:defRPr/>
            </a:pPr>
            <a:r>
              <a:rPr kumimoji="0" lang="en-US" altLang="en-US" sz="1400" b="1" i="0" u="none" strike="noStrike" kern="1200" cap="none" spc="0" normalizeH="0" baseline="0" noProof="0" dirty="0">
                <a:ln>
                  <a:noFill/>
                </a:ln>
                <a:solidFill>
                  <a:srgbClr val="000000"/>
                </a:solidFill>
                <a:effectLst/>
                <a:uLnTx/>
                <a:uFillTx/>
                <a:latin typeface="Poppins" pitchFamily="2" charset="77"/>
                <a:ea typeface="Aptos" panose="020B0004020202020204" pitchFamily="34" charset="0"/>
                <a:cs typeface="Times New Roman" panose="02020603050405020304" pitchFamily="18" charset="0"/>
              </a:rPr>
              <a:t>Nima Karshenas</a:t>
            </a:r>
            <a:br>
              <a:rPr kumimoji="0" lang="en-US" altLang="en-US" sz="1400" b="1" i="0" u="none" strike="noStrike" kern="1200" cap="none" spc="0" normalizeH="0" baseline="0" noProof="0" dirty="0">
                <a:ln>
                  <a:noFill/>
                </a:ln>
                <a:solidFill>
                  <a:srgbClr val="000000"/>
                </a:solidFill>
                <a:effectLst/>
                <a:uLnTx/>
                <a:uFillTx/>
                <a:latin typeface="Poppins" pitchFamily="2" charset="77"/>
                <a:ea typeface="Aptos" panose="020B0004020202020204" pitchFamily="34" charset="0"/>
                <a:cs typeface="Times New Roman" panose="02020603050405020304" pitchFamily="18" charset="0"/>
              </a:rPr>
            </a:br>
            <a:r>
              <a:rPr kumimoji="0" lang="en-US" sz="1400" b="1" i="0" u="none" strike="noStrike" kern="1200" cap="none" spc="0" normalizeH="0" baseline="0" noProof="0" dirty="0">
                <a:ln>
                  <a:noFill/>
                </a:ln>
                <a:solidFill>
                  <a:srgbClr val="000000"/>
                </a:solidFill>
                <a:effectLst/>
                <a:uLnTx/>
                <a:uFillTx/>
                <a:latin typeface="Poppins" pitchFamily="2" charset="77"/>
                <a:ea typeface="+mn-ea"/>
                <a:cs typeface="Times New Roman" panose="02020603050405020304" pitchFamily="18" charset="0"/>
              </a:rPr>
              <a:t>Innovation Consultant, DG Cities</a:t>
            </a:r>
            <a:br>
              <a:rPr kumimoji="0" lang="en-US" sz="1400" b="0" i="0" u="none" strike="noStrike" kern="1200" cap="none" spc="0" normalizeH="0" baseline="0" noProof="0" dirty="0">
                <a:ln>
                  <a:noFill/>
                </a:ln>
                <a:solidFill>
                  <a:srgbClr val="000000"/>
                </a:solidFill>
                <a:effectLst/>
                <a:uLnTx/>
                <a:uFillTx/>
                <a:latin typeface="Poppins" pitchFamily="2" charset="77"/>
                <a:ea typeface="+mn-ea"/>
                <a:cs typeface="Times New Roman" panose="02020603050405020304" pitchFamily="18" charset="0"/>
              </a:rPr>
            </a:br>
            <a:r>
              <a:rPr kumimoji="0" lang="en-US" sz="1400" b="0" i="0" u="none" strike="noStrike" kern="1200" cap="none" spc="0" normalizeH="0" baseline="0" noProof="0" dirty="0">
                <a:ln>
                  <a:noFill/>
                </a:ln>
                <a:solidFill>
                  <a:srgbClr val="035341"/>
                </a:solidFill>
                <a:effectLst/>
                <a:uLnTx/>
                <a:uFillTx/>
                <a:latin typeface="Poppins" pitchFamily="2" charset="77"/>
                <a:ea typeface="+mn-ea"/>
                <a:cs typeface="Times New Roman" panose="02020603050405020304" pitchFamily="18" charset="0"/>
              </a:rPr>
              <a:t>nima.karshenas@dgcities.com</a:t>
            </a:r>
          </a:p>
          <a:p>
            <a:pPr marL="0" marR="0" lvl="0" indent="0" algn="l" defTabSz="914400" rtl="0" eaLnBrk="0" fontAlgn="base" latinLnBrk="0" hangingPunct="0">
              <a:lnSpc>
                <a:spcPct val="100000"/>
              </a:lnSpc>
              <a:spcBef>
                <a:spcPct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Poppins" pitchFamily="2" charset="77"/>
                <a:ea typeface="+mn-ea"/>
                <a:cs typeface="Times New Roman" panose="02020603050405020304" pitchFamily="18" charset="0"/>
              </a:rPr>
              <a:t>Imperial </a:t>
            </a:r>
            <a:r>
              <a:rPr lang="en-US" sz="1300" dirty="0">
                <a:solidFill>
                  <a:srgbClr val="000000"/>
                </a:solidFill>
                <a:latin typeface="Poppins" pitchFamily="2" charset="77"/>
                <a:cs typeface="Times New Roman" panose="02020603050405020304" pitchFamily="18" charset="0"/>
              </a:rPr>
              <a:t>College </a:t>
            </a:r>
            <a:r>
              <a:rPr kumimoji="0" lang="en-US" sz="1300" b="0" i="0" u="none" strike="noStrike" kern="1200" cap="none" spc="0" normalizeH="0" baseline="0" noProof="0" dirty="0">
                <a:ln>
                  <a:noFill/>
                </a:ln>
                <a:solidFill>
                  <a:srgbClr val="000000"/>
                </a:solidFill>
                <a:effectLst/>
                <a:uLnTx/>
                <a:uFillTx/>
                <a:latin typeface="Poppins" pitchFamily="2" charset="77"/>
                <a:ea typeface="+mn-ea"/>
                <a:cs typeface="Times New Roman" panose="02020603050405020304" pitchFamily="18" charset="0"/>
              </a:rPr>
              <a:t>EEE MEng alumni, Nima previously collaborated with DG Cities on a digital connectivity initiative in Greenwich and worked for a year in industry with PlayStation. Nima contributes his in-depth technical knowledge of AI, Statistics, and Signal Processing to diverse projects that promote social impact and sustainability. He appreciates the broad scope of projects at DG Cities, offering insights and embracing the opportunity to shape a brighter future for cities and communities.</a:t>
            </a:r>
          </a:p>
          <a:p>
            <a:pPr marL="0" marR="0" lvl="0" indent="0" algn="l" defTabSz="914400" rtl="0" eaLnBrk="0" fontAlgn="base" latinLnBrk="0" hangingPunct="0">
              <a:lnSpc>
                <a:spcPct val="100000"/>
              </a:lnSpc>
              <a:spcBef>
                <a:spcPct val="0"/>
              </a:spcBef>
              <a:spcAft>
                <a:spcPts val="10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Poppins" pitchFamily="2" charset="77"/>
              <a:ea typeface="+mn-ea"/>
              <a:cs typeface="Times New Roman" panose="02020603050405020304" pitchFamily="18" charset="0"/>
            </a:endParaRPr>
          </a:p>
        </p:txBody>
      </p:sp>
      <p:pic>
        <p:nvPicPr>
          <p:cNvPr id="7" name="Logo-Black" descr="A black background with a black square&#10;&#10;Description automatically generated with medium confidence">
            <a:extLst>
              <a:ext uri="{FF2B5EF4-FFF2-40B4-BE49-F238E27FC236}">
                <a16:creationId xmlns:a16="http://schemas.microsoft.com/office/drawing/2014/main" id="{95503890-D34C-315E-6B55-2F78A8015851}"/>
              </a:ext>
            </a:extLst>
          </p:cNvPr>
          <p:cNvPicPr/>
          <p:nvPr/>
        </p:nvPicPr>
        <p:blipFill>
          <a:blip r:embed="rId4"/>
          <a:stretch>
            <a:fillRect/>
          </a:stretch>
        </p:blipFill>
        <p:spPr>
          <a:xfrm>
            <a:off x="10380525" y="404813"/>
            <a:ext cx="1440000" cy="342179"/>
          </a:xfrm>
          <a:prstGeom prst="rect">
            <a:avLst/>
          </a:prstGeom>
        </p:spPr>
      </p:pic>
    </p:spTree>
    <p:extLst>
      <p:ext uri="{BB962C8B-B14F-4D97-AF65-F5344CB8AC3E}">
        <p14:creationId xmlns:p14="http://schemas.microsoft.com/office/powerpoint/2010/main" val="2928654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1" name="Logo-White">
            <a:extLst>
              <a:ext uri="{FF2B5EF4-FFF2-40B4-BE49-F238E27FC236}">
                <a16:creationId xmlns:a16="http://schemas.microsoft.com/office/drawing/2014/main" id="{441646FD-796C-B7D2-4670-A5080B126545}"/>
              </a:ext>
            </a:extLst>
          </p:cNvPr>
          <p:cNvPicPr/>
          <p:nvPr/>
        </p:nvPicPr>
        <p:blipFill>
          <a:blip r:embed="rId3"/>
          <a:srcRect/>
          <a:stretch/>
        </p:blipFill>
        <p:spPr>
          <a:xfrm>
            <a:off x="7739654" y="4738995"/>
            <a:ext cx="3747496" cy="890494"/>
          </a:xfrm>
          <a:prstGeom prst="rect">
            <a:avLst/>
          </a:prstGeom>
        </p:spPr>
      </p:pic>
      <p:sp>
        <p:nvSpPr>
          <p:cNvPr id="12" name="Subtitle 2">
            <a:extLst>
              <a:ext uri="{FF2B5EF4-FFF2-40B4-BE49-F238E27FC236}">
                <a16:creationId xmlns:a16="http://schemas.microsoft.com/office/drawing/2014/main" id="{3C81FB36-E8F7-0F9A-830E-8FA3DC8A873F}"/>
              </a:ext>
            </a:extLst>
          </p:cNvPr>
          <p:cNvSpPr txBox="1">
            <a:spLocks/>
          </p:cNvSpPr>
          <p:nvPr/>
        </p:nvSpPr>
        <p:spPr>
          <a:xfrm>
            <a:off x="206501" y="0"/>
            <a:ext cx="5889500" cy="1411624"/>
          </a:xfrm>
          <a:prstGeom prst="rect">
            <a:avLst/>
          </a:prstGeom>
          <a:solidFill>
            <a:schemeClr val="accent1"/>
          </a:solidFill>
        </p:spPr>
        <p:txBody>
          <a:bodyPr vert="horz" lIns="9000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sz="5400" b="1" dirty="0">
                <a:solidFill>
                  <a:schemeClr val="accent5"/>
                </a:solidFill>
                <a:latin typeface="Poppins" pitchFamily="2" charset="77"/>
                <a:cs typeface="Poppins" pitchFamily="2" charset="77"/>
              </a:rPr>
              <a:t>About us</a:t>
            </a:r>
          </a:p>
        </p:txBody>
      </p:sp>
      <p:sp>
        <p:nvSpPr>
          <p:cNvPr id="2" name="Rounded Rectangle 7">
            <a:extLst>
              <a:ext uri="{FF2B5EF4-FFF2-40B4-BE49-F238E27FC236}">
                <a16:creationId xmlns:a16="http://schemas.microsoft.com/office/drawing/2014/main" id="{F5D44FF4-35D0-72A5-F6B7-C68B4BFB95B3}"/>
              </a:ext>
            </a:extLst>
          </p:cNvPr>
          <p:cNvSpPr>
            <a:spLocks noChangeAspect="1"/>
          </p:cNvSpPr>
          <p:nvPr/>
        </p:nvSpPr>
        <p:spPr>
          <a:xfrm rot="10800000">
            <a:off x="7558902" y="1541909"/>
            <a:ext cx="4352514" cy="2874926"/>
          </a:xfrm>
          <a:custGeom>
            <a:avLst/>
            <a:gdLst>
              <a:gd name="connsiteX0" fmla="*/ 0 w 2895600"/>
              <a:gd name="connsiteY0" fmla="*/ 53012 h 1510748"/>
              <a:gd name="connsiteX1" fmla="*/ 53012 w 2895600"/>
              <a:gd name="connsiteY1" fmla="*/ 0 h 1510748"/>
              <a:gd name="connsiteX2" fmla="*/ 2842588 w 2895600"/>
              <a:gd name="connsiteY2" fmla="*/ 0 h 1510748"/>
              <a:gd name="connsiteX3" fmla="*/ 2895600 w 2895600"/>
              <a:gd name="connsiteY3" fmla="*/ 53012 h 1510748"/>
              <a:gd name="connsiteX4" fmla="*/ 2895600 w 2895600"/>
              <a:gd name="connsiteY4" fmla="*/ 1457736 h 1510748"/>
              <a:gd name="connsiteX5" fmla="*/ 2842588 w 2895600"/>
              <a:gd name="connsiteY5" fmla="*/ 1510748 h 1510748"/>
              <a:gd name="connsiteX6" fmla="*/ 53012 w 2895600"/>
              <a:gd name="connsiteY6" fmla="*/ 1510748 h 1510748"/>
              <a:gd name="connsiteX7" fmla="*/ 0 w 2895600"/>
              <a:gd name="connsiteY7" fmla="*/ 1457736 h 1510748"/>
              <a:gd name="connsiteX8" fmla="*/ 0 w 2895600"/>
              <a:gd name="connsiteY8" fmla="*/ 53012 h 1510748"/>
              <a:gd name="connsiteX0" fmla="*/ 0 w 2895600"/>
              <a:gd name="connsiteY0" fmla="*/ 245716 h 1703452"/>
              <a:gd name="connsiteX1" fmla="*/ 56790 w 2895600"/>
              <a:gd name="connsiteY1" fmla="*/ 0 h 1703452"/>
              <a:gd name="connsiteX2" fmla="*/ 2842588 w 2895600"/>
              <a:gd name="connsiteY2" fmla="*/ 192704 h 1703452"/>
              <a:gd name="connsiteX3" fmla="*/ 2895600 w 2895600"/>
              <a:gd name="connsiteY3" fmla="*/ 245716 h 1703452"/>
              <a:gd name="connsiteX4" fmla="*/ 2895600 w 2895600"/>
              <a:gd name="connsiteY4" fmla="*/ 1650440 h 1703452"/>
              <a:gd name="connsiteX5" fmla="*/ 2842588 w 2895600"/>
              <a:gd name="connsiteY5" fmla="*/ 1703452 h 1703452"/>
              <a:gd name="connsiteX6" fmla="*/ 53012 w 2895600"/>
              <a:gd name="connsiteY6" fmla="*/ 1703452 h 1703452"/>
              <a:gd name="connsiteX7" fmla="*/ 0 w 2895600"/>
              <a:gd name="connsiteY7" fmla="*/ 1650440 h 1703452"/>
              <a:gd name="connsiteX8" fmla="*/ 0 w 2895600"/>
              <a:gd name="connsiteY8" fmla="*/ 245716 h 1703452"/>
              <a:gd name="connsiteX0" fmla="*/ 0 w 2895600"/>
              <a:gd name="connsiteY0" fmla="*/ 60569 h 1703452"/>
              <a:gd name="connsiteX1" fmla="*/ 56790 w 2895600"/>
              <a:gd name="connsiteY1" fmla="*/ 0 h 1703452"/>
              <a:gd name="connsiteX2" fmla="*/ 2842588 w 2895600"/>
              <a:gd name="connsiteY2" fmla="*/ 192704 h 1703452"/>
              <a:gd name="connsiteX3" fmla="*/ 2895600 w 2895600"/>
              <a:gd name="connsiteY3" fmla="*/ 245716 h 1703452"/>
              <a:gd name="connsiteX4" fmla="*/ 2895600 w 2895600"/>
              <a:gd name="connsiteY4" fmla="*/ 1650440 h 1703452"/>
              <a:gd name="connsiteX5" fmla="*/ 2842588 w 2895600"/>
              <a:gd name="connsiteY5" fmla="*/ 1703452 h 1703452"/>
              <a:gd name="connsiteX6" fmla="*/ 53012 w 2895600"/>
              <a:gd name="connsiteY6" fmla="*/ 1703452 h 1703452"/>
              <a:gd name="connsiteX7" fmla="*/ 0 w 2895600"/>
              <a:gd name="connsiteY7" fmla="*/ 1650440 h 1703452"/>
              <a:gd name="connsiteX8" fmla="*/ 0 w 2895600"/>
              <a:gd name="connsiteY8" fmla="*/ 60569 h 1703452"/>
              <a:gd name="connsiteX0" fmla="*/ 0 w 2895600"/>
              <a:gd name="connsiteY0" fmla="*/ 71904 h 1714787"/>
              <a:gd name="connsiteX1" fmla="*/ 64347 w 2895600"/>
              <a:gd name="connsiteY1" fmla="*/ 0 h 1714787"/>
              <a:gd name="connsiteX2" fmla="*/ 2842588 w 2895600"/>
              <a:gd name="connsiteY2" fmla="*/ 204039 h 1714787"/>
              <a:gd name="connsiteX3" fmla="*/ 2895600 w 2895600"/>
              <a:gd name="connsiteY3" fmla="*/ 257051 h 1714787"/>
              <a:gd name="connsiteX4" fmla="*/ 2895600 w 2895600"/>
              <a:gd name="connsiteY4" fmla="*/ 1661775 h 1714787"/>
              <a:gd name="connsiteX5" fmla="*/ 2842588 w 2895600"/>
              <a:gd name="connsiteY5" fmla="*/ 1714787 h 1714787"/>
              <a:gd name="connsiteX6" fmla="*/ 53012 w 2895600"/>
              <a:gd name="connsiteY6" fmla="*/ 1714787 h 1714787"/>
              <a:gd name="connsiteX7" fmla="*/ 0 w 2895600"/>
              <a:gd name="connsiteY7" fmla="*/ 1661775 h 1714787"/>
              <a:gd name="connsiteX8" fmla="*/ 0 w 2895600"/>
              <a:gd name="connsiteY8" fmla="*/ 71904 h 1714787"/>
              <a:gd name="connsiteX0" fmla="*/ 0 w 2895600"/>
              <a:gd name="connsiteY0" fmla="*/ 71904 h 1714787"/>
              <a:gd name="connsiteX1" fmla="*/ 64347 w 2895600"/>
              <a:gd name="connsiteY1" fmla="*/ 0 h 1714787"/>
              <a:gd name="connsiteX2" fmla="*/ 2842588 w 2895600"/>
              <a:gd name="connsiteY2" fmla="*/ 204039 h 1714787"/>
              <a:gd name="connsiteX3" fmla="*/ 2895600 w 2895600"/>
              <a:gd name="connsiteY3" fmla="*/ 257051 h 1714787"/>
              <a:gd name="connsiteX4" fmla="*/ 2895600 w 2895600"/>
              <a:gd name="connsiteY4" fmla="*/ 1661775 h 1714787"/>
              <a:gd name="connsiteX5" fmla="*/ 2842588 w 2895600"/>
              <a:gd name="connsiteY5" fmla="*/ 1714787 h 1714787"/>
              <a:gd name="connsiteX6" fmla="*/ 53012 w 2895600"/>
              <a:gd name="connsiteY6" fmla="*/ 1714787 h 1714787"/>
              <a:gd name="connsiteX7" fmla="*/ 0 w 2895600"/>
              <a:gd name="connsiteY7" fmla="*/ 1661775 h 1714787"/>
              <a:gd name="connsiteX8" fmla="*/ 0 w 2895600"/>
              <a:gd name="connsiteY8" fmla="*/ 71904 h 1714787"/>
              <a:gd name="connsiteX0" fmla="*/ 0 w 2895600"/>
              <a:gd name="connsiteY0" fmla="*/ 71904 h 1714787"/>
              <a:gd name="connsiteX1" fmla="*/ 64347 w 2895600"/>
              <a:gd name="connsiteY1" fmla="*/ 0 h 1714787"/>
              <a:gd name="connsiteX2" fmla="*/ 2842588 w 2895600"/>
              <a:gd name="connsiteY2" fmla="*/ 204039 h 1714787"/>
              <a:gd name="connsiteX3" fmla="*/ 2895600 w 2895600"/>
              <a:gd name="connsiteY3" fmla="*/ 257051 h 1714787"/>
              <a:gd name="connsiteX4" fmla="*/ 2895600 w 2895600"/>
              <a:gd name="connsiteY4" fmla="*/ 1661775 h 1714787"/>
              <a:gd name="connsiteX5" fmla="*/ 2842588 w 2895600"/>
              <a:gd name="connsiteY5" fmla="*/ 1714787 h 1714787"/>
              <a:gd name="connsiteX6" fmla="*/ 53012 w 2895600"/>
              <a:gd name="connsiteY6" fmla="*/ 1714787 h 1714787"/>
              <a:gd name="connsiteX7" fmla="*/ 0 w 2895600"/>
              <a:gd name="connsiteY7" fmla="*/ 1661775 h 1714787"/>
              <a:gd name="connsiteX8" fmla="*/ 0 w 2895600"/>
              <a:gd name="connsiteY8" fmla="*/ 71904 h 1714787"/>
              <a:gd name="connsiteX0" fmla="*/ 0 w 2899379"/>
              <a:gd name="connsiteY0" fmla="*/ 49233 h 1714787"/>
              <a:gd name="connsiteX1" fmla="*/ 68126 w 2899379"/>
              <a:gd name="connsiteY1" fmla="*/ 0 h 1714787"/>
              <a:gd name="connsiteX2" fmla="*/ 2846367 w 2899379"/>
              <a:gd name="connsiteY2" fmla="*/ 204039 h 1714787"/>
              <a:gd name="connsiteX3" fmla="*/ 2899379 w 2899379"/>
              <a:gd name="connsiteY3" fmla="*/ 257051 h 1714787"/>
              <a:gd name="connsiteX4" fmla="*/ 2899379 w 2899379"/>
              <a:gd name="connsiteY4" fmla="*/ 1661775 h 1714787"/>
              <a:gd name="connsiteX5" fmla="*/ 2846367 w 2899379"/>
              <a:gd name="connsiteY5" fmla="*/ 1714787 h 1714787"/>
              <a:gd name="connsiteX6" fmla="*/ 56791 w 2899379"/>
              <a:gd name="connsiteY6" fmla="*/ 1714787 h 1714787"/>
              <a:gd name="connsiteX7" fmla="*/ 3779 w 2899379"/>
              <a:gd name="connsiteY7" fmla="*/ 1661775 h 1714787"/>
              <a:gd name="connsiteX8" fmla="*/ 0 w 2899379"/>
              <a:gd name="connsiteY8" fmla="*/ 49233 h 1714787"/>
              <a:gd name="connsiteX0" fmla="*/ 0 w 2899379"/>
              <a:gd name="connsiteY0" fmla="*/ 49233 h 1714787"/>
              <a:gd name="connsiteX1" fmla="*/ 68126 w 2899379"/>
              <a:gd name="connsiteY1" fmla="*/ 0 h 1714787"/>
              <a:gd name="connsiteX2" fmla="*/ 2846367 w 2899379"/>
              <a:gd name="connsiteY2" fmla="*/ 204039 h 1714787"/>
              <a:gd name="connsiteX3" fmla="*/ 2896204 w 2899379"/>
              <a:gd name="connsiteY3" fmla="*/ 276101 h 1714787"/>
              <a:gd name="connsiteX4" fmla="*/ 2899379 w 2899379"/>
              <a:gd name="connsiteY4" fmla="*/ 1661775 h 1714787"/>
              <a:gd name="connsiteX5" fmla="*/ 2846367 w 2899379"/>
              <a:gd name="connsiteY5" fmla="*/ 1714787 h 1714787"/>
              <a:gd name="connsiteX6" fmla="*/ 56791 w 2899379"/>
              <a:gd name="connsiteY6" fmla="*/ 1714787 h 1714787"/>
              <a:gd name="connsiteX7" fmla="*/ 3779 w 2899379"/>
              <a:gd name="connsiteY7" fmla="*/ 1661775 h 1714787"/>
              <a:gd name="connsiteX8" fmla="*/ 0 w 2899379"/>
              <a:gd name="connsiteY8" fmla="*/ 49233 h 1714787"/>
              <a:gd name="connsiteX0" fmla="*/ 0 w 2899379"/>
              <a:gd name="connsiteY0" fmla="*/ 49233 h 1714787"/>
              <a:gd name="connsiteX1" fmla="*/ 68126 w 2899379"/>
              <a:gd name="connsiteY1" fmla="*/ 0 h 1714787"/>
              <a:gd name="connsiteX2" fmla="*/ 2846367 w 2899379"/>
              <a:gd name="connsiteY2" fmla="*/ 219914 h 1714787"/>
              <a:gd name="connsiteX3" fmla="*/ 2896204 w 2899379"/>
              <a:gd name="connsiteY3" fmla="*/ 276101 h 1714787"/>
              <a:gd name="connsiteX4" fmla="*/ 2899379 w 2899379"/>
              <a:gd name="connsiteY4" fmla="*/ 1661775 h 1714787"/>
              <a:gd name="connsiteX5" fmla="*/ 2846367 w 2899379"/>
              <a:gd name="connsiteY5" fmla="*/ 1714787 h 1714787"/>
              <a:gd name="connsiteX6" fmla="*/ 56791 w 2899379"/>
              <a:gd name="connsiteY6" fmla="*/ 1714787 h 1714787"/>
              <a:gd name="connsiteX7" fmla="*/ 3779 w 2899379"/>
              <a:gd name="connsiteY7" fmla="*/ 1661775 h 1714787"/>
              <a:gd name="connsiteX8" fmla="*/ 0 w 2899379"/>
              <a:gd name="connsiteY8" fmla="*/ 49233 h 1714787"/>
              <a:gd name="connsiteX0" fmla="*/ 0 w 2899379"/>
              <a:gd name="connsiteY0" fmla="*/ 49233 h 1714787"/>
              <a:gd name="connsiteX1" fmla="*/ 68126 w 2899379"/>
              <a:gd name="connsiteY1" fmla="*/ 0 h 1714787"/>
              <a:gd name="connsiteX2" fmla="*/ 2846367 w 2899379"/>
              <a:gd name="connsiteY2" fmla="*/ 219914 h 1714787"/>
              <a:gd name="connsiteX3" fmla="*/ 2896204 w 2899379"/>
              <a:gd name="connsiteY3" fmla="*/ 276101 h 1714787"/>
              <a:gd name="connsiteX4" fmla="*/ 2899379 w 2899379"/>
              <a:gd name="connsiteY4" fmla="*/ 1661775 h 1714787"/>
              <a:gd name="connsiteX5" fmla="*/ 2846367 w 2899379"/>
              <a:gd name="connsiteY5" fmla="*/ 1714787 h 1714787"/>
              <a:gd name="connsiteX6" fmla="*/ 56791 w 2899379"/>
              <a:gd name="connsiteY6" fmla="*/ 1714787 h 1714787"/>
              <a:gd name="connsiteX7" fmla="*/ 3779 w 2899379"/>
              <a:gd name="connsiteY7" fmla="*/ 1661775 h 1714787"/>
              <a:gd name="connsiteX8" fmla="*/ 0 w 2899379"/>
              <a:gd name="connsiteY8" fmla="*/ 49233 h 1714787"/>
              <a:gd name="connsiteX0" fmla="*/ 0 w 2899379"/>
              <a:gd name="connsiteY0" fmla="*/ 49233 h 1914812"/>
              <a:gd name="connsiteX1" fmla="*/ 68126 w 2899379"/>
              <a:gd name="connsiteY1" fmla="*/ 0 h 1914812"/>
              <a:gd name="connsiteX2" fmla="*/ 2846367 w 2899379"/>
              <a:gd name="connsiteY2" fmla="*/ 219914 h 1914812"/>
              <a:gd name="connsiteX3" fmla="*/ 2896204 w 2899379"/>
              <a:gd name="connsiteY3" fmla="*/ 276101 h 1914812"/>
              <a:gd name="connsiteX4" fmla="*/ 2899379 w 2899379"/>
              <a:gd name="connsiteY4" fmla="*/ 1661775 h 1914812"/>
              <a:gd name="connsiteX5" fmla="*/ 2846367 w 2899379"/>
              <a:gd name="connsiteY5" fmla="*/ 1714787 h 1914812"/>
              <a:gd name="connsiteX6" fmla="*/ 50441 w 2899379"/>
              <a:gd name="connsiteY6" fmla="*/ 1914812 h 1914812"/>
              <a:gd name="connsiteX7" fmla="*/ 3779 w 2899379"/>
              <a:gd name="connsiteY7" fmla="*/ 1661775 h 1914812"/>
              <a:gd name="connsiteX8" fmla="*/ 0 w 2899379"/>
              <a:gd name="connsiteY8" fmla="*/ 49233 h 1914812"/>
              <a:gd name="connsiteX0" fmla="*/ 0 w 2899379"/>
              <a:gd name="connsiteY0" fmla="*/ 49233 h 1914812"/>
              <a:gd name="connsiteX1" fmla="*/ 68126 w 2899379"/>
              <a:gd name="connsiteY1" fmla="*/ 0 h 1914812"/>
              <a:gd name="connsiteX2" fmla="*/ 2846367 w 2899379"/>
              <a:gd name="connsiteY2" fmla="*/ 219914 h 1914812"/>
              <a:gd name="connsiteX3" fmla="*/ 2896204 w 2899379"/>
              <a:gd name="connsiteY3" fmla="*/ 276101 h 1914812"/>
              <a:gd name="connsiteX4" fmla="*/ 2899379 w 2899379"/>
              <a:gd name="connsiteY4" fmla="*/ 1661775 h 1914812"/>
              <a:gd name="connsiteX5" fmla="*/ 2846367 w 2899379"/>
              <a:gd name="connsiteY5" fmla="*/ 1714787 h 1914812"/>
              <a:gd name="connsiteX6" fmla="*/ 50441 w 2899379"/>
              <a:gd name="connsiteY6" fmla="*/ 1914812 h 1914812"/>
              <a:gd name="connsiteX7" fmla="*/ 3779 w 2899379"/>
              <a:gd name="connsiteY7" fmla="*/ 1855450 h 1914812"/>
              <a:gd name="connsiteX8" fmla="*/ 0 w 2899379"/>
              <a:gd name="connsiteY8" fmla="*/ 49233 h 1914812"/>
              <a:gd name="connsiteX0" fmla="*/ 0 w 2899379"/>
              <a:gd name="connsiteY0" fmla="*/ 49233 h 1914812"/>
              <a:gd name="connsiteX1" fmla="*/ 68126 w 2899379"/>
              <a:gd name="connsiteY1" fmla="*/ 0 h 1914812"/>
              <a:gd name="connsiteX2" fmla="*/ 2846367 w 2899379"/>
              <a:gd name="connsiteY2" fmla="*/ 219914 h 1914812"/>
              <a:gd name="connsiteX3" fmla="*/ 2896204 w 2899379"/>
              <a:gd name="connsiteY3" fmla="*/ 276101 h 1914812"/>
              <a:gd name="connsiteX4" fmla="*/ 2899379 w 2899379"/>
              <a:gd name="connsiteY4" fmla="*/ 1661775 h 1914812"/>
              <a:gd name="connsiteX5" fmla="*/ 2846367 w 2899379"/>
              <a:gd name="connsiteY5" fmla="*/ 1714787 h 1914812"/>
              <a:gd name="connsiteX6" fmla="*/ 50441 w 2899379"/>
              <a:gd name="connsiteY6" fmla="*/ 1914812 h 1914812"/>
              <a:gd name="connsiteX7" fmla="*/ 604 w 2899379"/>
              <a:gd name="connsiteY7" fmla="*/ 1871325 h 1914812"/>
              <a:gd name="connsiteX8" fmla="*/ 0 w 2899379"/>
              <a:gd name="connsiteY8" fmla="*/ 49233 h 1914812"/>
              <a:gd name="connsiteX0" fmla="*/ 0 w 2899379"/>
              <a:gd name="connsiteY0" fmla="*/ 49233 h 1914812"/>
              <a:gd name="connsiteX1" fmla="*/ 68126 w 2899379"/>
              <a:gd name="connsiteY1" fmla="*/ 0 h 1914812"/>
              <a:gd name="connsiteX2" fmla="*/ 2846367 w 2899379"/>
              <a:gd name="connsiteY2" fmla="*/ 219914 h 1914812"/>
              <a:gd name="connsiteX3" fmla="*/ 2896204 w 2899379"/>
              <a:gd name="connsiteY3" fmla="*/ 276101 h 1914812"/>
              <a:gd name="connsiteX4" fmla="*/ 2899379 w 2899379"/>
              <a:gd name="connsiteY4" fmla="*/ 1661775 h 1914812"/>
              <a:gd name="connsiteX5" fmla="*/ 2846367 w 2899379"/>
              <a:gd name="connsiteY5" fmla="*/ 1714787 h 1914812"/>
              <a:gd name="connsiteX6" fmla="*/ 50441 w 2899379"/>
              <a:gd name="connsiteY6" fmla="*/ 1914812 h 1914812"/>
              <a:gd name="connsiteX7" fmla="*/ 604 w 2899379"/>
              <a:gd name="connsiteY7" fmla="*/ 1871325 h 1914812"/>
              <a:gd name="connsiteX8" fmla="*/ 0 w 2899379"/>
              <a:gd name="connsiteY8" fmla="*/ 49233 h 1914812"/>
              <a:gd name="connsiteX0" fmla="*/ 0 w 2899379"/>
              <a:gd name="connsiteY0" fmla="*/ 49521 h 1915100"/>
              <a:gd name="connsiteX1" fmla="*/ 68126 w 2899379"/>
              <a:gd name="connsiteY1" fmla="*/ 288 h 1915100"/>
              <a:gd name="connsiteX2" fmla="*/ 2846367 w 2899379"/>
              <a:gd name="connsiteY2" fmla="*/ 220202 h 1915100"/>
              <a:gd name="connsiteX3" fmla="*/ 2896204 w 2899379"/>
              <a:gd name="connsiteY3" fmla="*/ 276389 h 1915100"/>
              <a:gd name="connsiteX4" fmla="*/ 2899379 w 2899379"/>
              <a:gd name="connsiteY4" fmla="*/ 1662063 h 1915100"/>
              <a:gd name="connsiteX5" fmla="*/ 2846367 w 2899379"/>
              <a:gd name="connsiteY5" fmla="*/ 1715075 h 1915100"/>
              <a:gd name="connsiteX6" fmla="*/ 50441 w 2899379"/>
              <a:gd name="connsiteY6" fmla="*/ 1915100 h 1915100"/>
              <a:gd name="connsiteX7" fmla="*/ 604 w 2899379"/>
              <a:gd name="connsiteY7" fmla="*/ 1871613 h 1915100"/>
              <a:gd name="connsiteX8" fmla="*/ 0 w 2899379"/>
              <a:gd name="connsiteY8" fmla="*/ 49521 h 191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9379" h="1915100">
                <a:moveTo>
                  <a:pt x="0" y="49521"/>
                </a:moveTo>
                <a:cubicBezTo>
                  <a:pt x="0" y="20243"/>
                  <a:pt x="18369" y="-2863"/>
                  <a:pt x="68126" y="288"/>
                </a:cubicBezTo>
                <a:lnTo>
                  <a:pt x="2846367" y="220202"/>
                </a:lnTo>
                <a:cubicBezTo>
                  <a:pt x="2875645" y="220202"/>
                  <a:pt x="2896204" y="247111"/>
                  <a:pt x="2896204" y="276389"/>
                </a:cubicBezTo>
                <a:cubicBezTo>
                  <a:pt x="2897262" y="738280"/>
                  <a:pt x="2898321" y="1200172"/>
                  <a:pt x="2899379" y="1662063"/>
                </a:cubicBezTo>
                <a:cubicBezTo>
                  <a:pt x="2899379" y="1691341"/>
                  <a:pt x="2875645" y="1715075"/>
                  <a:pt x="2846367" y="1715075"/>
                </a:cubicBezTo>
                <a:lnTo>
                  <a:pt x="50441" y="1915100"/>
                </a:lnTo>
                <a:cubicBezTo>
                  <a:pt x="21163" y="1915100"/>
                  <a:pt x="604" y="1900891"/>
                  <a:pt x="604" y="1871613"/>
                </a:cubicBezTo>
                <a:cubicBezTo>
                  <a:pt x="-656" y="1334099"/>
                  <a:pt x="1260" y="587035"/>
                  <a:pt x="0" y="49521"/>
                </a:cubicBezTo>
                <a:close/>
              </a:path>
            </a:pathLst>
          </a:custGeom>
          <a:blipFill dpi="0" rotWithShape="0">
            <a:blip r:embed="rId4">
              <a:extLst>
                <a:ext uri="{28A0092B-C50C-407E-A947-70E740481C1C}">
                  <a14:useLocalDpi xmlns:a14="http://schemas.microsoft.com/office/drawing/2010/main" val="0"/>
                </a:ext>
              </a:extLst>
            </a:blip>
            <a:srcRect/>
            <a:stretch>
              <a:fillRect/>
            </a:stretch>
          </a:bli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C309B7C8-7749-907C-0138-C66B832C9A5D}"/>
              </a:ext>
            </a:extLst>
          </p:cNvPr>
          <p:cNvSpPr txBox="1"/>
          <p:nvPr/>
        </p:nvSpPr>
        <p:spPr>
          <a:xfrm>
            <a:off x="280584" y="1653886"/>
            <a:ext cx="6854700" cy="4478149"/>
          </a:xfrm>
          <a:prstGeom prst="rect">
            <a:avLst/>
          </a:prstGeom>
          <a:noFill/>
        </p:spPr>
        <p:txBody>
          <a:bodyPr wrap="square">
            <a:spAutoFit/>
          </a:bodyPr>
          <a:lstStyle/>
          <a:p>
            <a:pPr marL="285750" indent="-285750">
              <a:spcAft>
                <a:spcPts val="1800"/>
              </a:spcAft>
              <a:buFont typeface="Arial" panose="020B0604020202020204" pitchFamily="34" charset="0"/>
              <a:buChar char="•"/>
            </a:pPr>
            <a:r>
              <a:rPr lang="en-US" sz="2000" dirty="0">
                <a:solidFill>
                  <a:schemeClr val="bg2"/>
                </a:solidFill>
                <a:latin typeface="Poppins" panose="00000500000000000000" pitchFamily="2" charset="0"/>
                <a:cs typeface="Poppins" panose="00000500000000000000" pitchFamily="2" charset="0"/>
              </a:rPr>
              <a:t>Established in 2015 by the Royal Borough of Greenwich to advance urban innovation.</a:t>
            </a:r>
          </a:p>
          <a:p>
            <a:pPr marL="285750" indent="-285750">
              <a:spcAft>
                <a:spcPts val="1800"/>
              </a:spcAft>
              <a:buFont typeface="Arial" panose="020B0604020202020204" pitchFamily="34" charset="0"/>
              <a:buChar char="•"/>
            </a:pPr>
            <a:r>
              <a:rPr lang="en-US" sz="2000" dirty="0">
                <a:solidFill>
                  <a:schemeClr val="bg2"/>
                </a:solidFill>
                <a:latin typeface="Poppins" panose="00000500000000000000" pitchFamily="2" charset="0"/>
                <a:cs typeface="Poppins" panose="00000500000000000000" pitchFamily="2" charset="0"/>
              </a:rPr>
              <a:t>We provide bespoke consultancy and independent evaluations for local authorities, as well as private and public sector clients.</a:t>
            </a:r>
          </a:p>
          <a:p>
            <a:pPr marL="285750" indent="-285750">
              <a:spcAft>
                <a:spcPts val="1800"/>
              </a:spcAft>
              <a:buFont typeface="Arial" panose="020B0604020202020204" pitchFamily="34" charset="0"/>
              <a:buChar char="•"/>
            </a:pPr>
            <a:r>
              <a:rPr lang="en-US" sz="2000" dirty="0">
                <a:solidFill>
                  <a:schemeClr val="bg2"/>
                </a:solidFill>
                <a:latin typeface="Poppins" panose="00000500000000000000" pitchFamily="2" charset="0"/>
                <a:cs typeface="Poppins" panose="00000500000000000000" pitchFamily="2" charset="0"/>
              </a:rPr>
              <a:t>Our expertise includes </a:t>
            </a:r>
            <a:r>
              <a:rPr lang="en-US" sz="2000" dirty="0" err="1">
                <a:solidFill>
                  <a:schemeClr val="bg2"/>
                </a:solidFill>
                <a:latin typeface="Poppins" panose="00000500000000000000" pitchFamily="2" charset="0"/>
                <a:cs typeface="Poppins" panose="00000500000000000000" pitchFamily="2" charset="0"/>
              </a:rPr>
              <a:t>decarbonisation</a:t>
            </a:r>
            <a:r>
              <a:rPr lang="en-US" sz="2000" dirty="0">
                <a:solidFill>
                  <a:schemeClr val="bg2"/>
                </a:solidFill>
                <a:latin typeface="Poppins" panose="00000500000000000000" pitchFamily="2" charset="0"/>
                <a:cs typeface="Poppins" panose="00000500000000000000" pitchFamily="2" charset="0"/>
              </a:rPr>
              <a:t> strategies, </a:t>
            </a:r>
            <a:r>
              <a:rPr lang="en-US" sz="2000" dirty="0" err="1">
                <a:solidFill>
                  <a:schemeClr val="bg2"/>
                </a:solidFill>
                <a:latin typeface="Poppins" panose="00000500000000000000" pitchFamily="2" charset="0"/>
                <a:cs typeface="Poppins" panose="00000500000000000000" pitchFamily="2" charset="0"/>
              </a:rPr>
              <a:t>behavioural</a:t>
            </a:r>
            <a:r>
              <a:rPr lang="en-US" sz="2000" dirty="0">
                <a:solidFill>
                  <a:schemeClr val="bg2"/>
                </a:solidFill>
                <a:latin typeface="Poppins" panose="00000500000000000000" pitchFamily="2" charset="0"/>
                <a:cs typeface="Poppins" panose="00000500000000000000" pitchFamily="2" charset="0"/>
              </a:rPr>
              <a:t> science </a:t>
            </a:r>
            <a:r>
              <a:rPr lang="en-US" sz="2000" dirty="0" err="1">
                <a:solidFill>
                  <a:schemeClr val="bg2"/>
                </a:solidFill>
                <a:latin typeface="Poppins" panose="00000500000000000000" pitchFamily="2" charset="0"/>
                <a:cs typeface="Poppins" panose="00000500000000000000" pitchFamily="2" charset="0"/>
              </a:rPr>
              <a:t>programmes</a:t>
            </a:r>
            <a:r>
              <a:rPr lang="en-US" sz="2000" dirty="0">
                <a:solidFill>
                  <a:schemeClr val="bg2"/>
                </a:solidFill>
                <a:latin typeface="Poppins" panose="00000500000000000000" pitchFamily="2" charset="0"/>
                <a:cs typeface="Poppins" panose="00000500000000000000" pitchFamily="2" charset="0"/>
              </a:rPr>
              <a:t>, and </a:t>
            </a:r>
            <a:r>
              <a:rPr lang="en-US" sz="2000" dirty="0" err="1">
                <a:solidFill>
                  <a:schemeClr val="bg2"/>
                </a:solidFill>
                <a:latin typeface="Poppins" panose="00000500000000000000" pitchFamily="2" charset="0"/>
                <a:cs typeface="Poppins" panose="00000500000000000000" pitchFamily="2" charset="0"/>
              </a:rPr>
              <a:t>neighbourhood</a:t>
            </a:r>
            <a:r>
              <a:rPr lang="en-US" sz="2000" dirty="0">
                <a:solidFill>
                  <a:schemeClr val="bg2"/>
                </a:solidFill>
                <a:latin typeface="Poppins" panose="00000500000000000000" pitchFamily="2" charset="0"/>
                <a:cs typeface="Poppins" panose="00000500000000000000" pitchFamily="2" charset="0"/>
              </a:rPr>
              <a:t>-level consultancy.</a:t>
            </a:r>
          </a:p>
          <a:p>
            <a:pPr marL="285750" indent="-285750">
              <a:spcAft>
                <a:spcPts val="1800"/>
              </a:spcAft>
              <a:buFont typeface="Arial" panose="020B0604020202020204" pitchFamily="34" charset="0"/>
              <a:buChar char="•"/>
            </a:pPr>
            <a:r>
              <a:rPr lang="en-US" sz="2000" dirty="0">
                <a:solidFill>
                  <a:schemeClr val="bg2"/>
                </a:solidFill>
                <a:latin typeface="Poppins" panose="00000500000000000000" pitchFamily="2" charset="0"/>
                <a:cs typeface="Poppins" panose="00000500000000000000" pitchFamily="2" charset="0"/>
              </a:rPr>
              <a:t>We help councils invest in energy, housing, and transport, piloting and implementing new technologies, digital solutions, and mobility systems.</a:t>
            </a:r>
          </a:p>
        </p:txBody>
      </p:sp>
    </p:spTree>
    <p:extLst>
      <p:ext uri="{BB962C8B-B14F-4D97-AF65-F5344CB8AC3E}">
        <p14:creationId xmlns:p14="http://schemas.microsoft.com/office/powerpoint/2010/main" val="296941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8476A80-9242-EC99-BFC3-BB95A136F43C}"/>
            </a:ext>
          </a:extLst>
        </p:cNvPr>
        <p:cNvGrpSpPr/>
        <p:nvPr/>
      </p:nvGrpSpPr>
      <p:grpSpPr>
        <a:xfrm>
          <a:off x="0" y="0"/>
          <a:ext cx="0" cy="0"/>
          <a:chOff x="0" y="0"/>
          <a:chExt cx="0" cy="0"/>
        </a:xfrm>
      </p:grpSpPr>
      <p:pic>
        <p:nvPicPr>
          <p:cNvPr id="11" name="Logo-White">
            <a:extLst>
              <a:ext uri="{FF2B5EF4-FFF2-40B4-BE49-F238E27FC236}">
                <a16:creationId xmlns:a16="http://schemas.microsoft.com/office/drawing/2014/main" id="{95A1BE9A-6C9D-F5BD-7433-4E124D1E48A2}"/>
              </a:ext>
            </a:extLst>
          </p:cNvPr>
          <p:cNvPicPr/>
          <p:nvPr/>
        </p:nvPicPr>
        <p:blipFill>
          <a:blip r:embed="rId3"/>
          <a:srcRect/>
          <a:stretch/>
        </p:blipFill>
        <p:spPr>
          <a:xfrm>
            <a:off x="10380525" y="404813"/>
            <a:ext cx="1440000" cy="342178"/>
          </a:xfrm>
          <a:prstGeom prst="rect">
            <a:avLst/>
          </a:prstGeom>
        </p:spPr>
      </p:pic>
      <p:sp>
        <p:nvSpPr>
          <p:cNvPr id="12" name="Subtitle 2">
            <a:extLst>
              <a:ext uri="{FF2B5EF4-FFF2-40B4-BE49-F238E27FC236}">
                <a16:creationId xmlns:a16="http://schemas.microsoft.com/office/drawing/2014/main" id="{E3FDC15A-1085-D41D-AFA3-D25E8443A8EE}"/>
              </a:ext>
            </a:extLst>
          </p:cNvPr>
          <p:cNvSpPr txBox="1">
            <a:spLocks/>
          </p:cNvSpPr>
          <p:nvPr/>
        </p:nvSpPr>
        <p:spPr>
          <a:xfrm>
            <a:off x="206500" y="0"/>
            <a:ext cx="9020277" cy="1411624"/>
          </a:xfrm>
          <a:prstGeom prst="rect">
            <a:avLst/>
          </a:prstGeom>
          <a:solidFill>
            <a:schemeClr val="accent1"/>
          </a:solidFill>
        </p:spPr>
        <p:txBody>
          <a:bodyPr vert="horz" lIns="9000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sz="5400" b="1" dirty="0">
                <a:solidFill>
                  <a:schemeClr val="accent5"/>
                </a:solidFill>
                <a:latin typeface="Poppins" pitchFamily="2" charset="77"/>
                <a:cs typeface="Poppins" pitchFamily="2" charset="77"/>
              </a:rPr>
              <a:t>Project Context</a:t>
            </a:r>
          </a:p>
        </p:txBody>
      </p:sp>
      <p:sp>
        <p:nvSpPr>
          <p:cNvPr id="4" name="TextBox 3">
            <a:extLst>
              <a:ext uri="{FF2B5EF4-FFF2-40B4-BE49-F238E27FC236}">
                <a16:creationId xmlns:a16="http://schemas.microsoft.com/office/drawing/2014/main" id="{30D0E8DC-79F3-7AB8-646F-8D8699D81C7B}"/>
              </a:ext>
            </a:extLst>
          </p:cNvPr>
          <p:cNvSpPr txBox="1"/>
          <p:nvPr/>
        </p:nvSpPr>
        <p:spPr>
          <a:xfrm>
            <a:off x="206500" y="1411624"/>
            <a:ext cx="6812367" cy="4924425"/>
          </a:xfrm>
          <a:prstGeom prst="rect">
            <a:avLst/>
          </a:prstGeom>
          <a:noFill/>
        </p:spPr>
        <p:txBody>
          <a:bodyPr wrap="square">
            <a:spAutoFit/>
          </a:bodyPr>
          <a:lstStyle/>
          <a:p>
            <a:r>
              <a:rPr lang="en-US" sz="1400" dirty="0">
                <a:solidFill>
                  <a:schemeClr val="bg2"/>
                </a:solidFill>
                <a:latin typeface="Poppins" panose="00000500000000000000" pitchFamily="2" charset="0"/>
                <a:cs typeface="Poppins" panose="00000500000000000000" pitchFamily="2" charset="0"/>
              </a:rPr>
              <a:t>Driverless vehicles are moving toward </a:t>
            </a:r>
            <a:r>
              <a:rPr lang="en-US" sz="1400" dirty="0">
                <a:solidFill>
                  <a:schemeClr val="bg2"/>
                </a:solidFill>
                <a:latin typeface="Poppins" panose="00000500000000000000" pitchFamily="2" charset="0"/>
                <a:cs typeface="Poppins" panose="00000500000000000000" pitchFamily="2" charset="0"/>
                <a:hlinkClick r:id="rId4">
                  <a:extLst>
                    <a:ext uri="{A12FA001-AC4F-418D-AE19-62706E023703}">
                      <ahyp:hlinkClr xmlns:ahyp="http://schemas.microsoft.com/office/drawing/2018/hyperlinkcolor" val="tx"/>
                    </a:ext>
                  </a:extLst>
                </a:hlinkClick>
              </a:rPr>
              <a:t>larger-scale UK deployment</a:t>
            </a:r>
            <a:r>
              <a:rPr lang="en-US" sz="1400" dirty="0">
                <a:solidFill>
                  <a:schemeClr val="bg2"/>
                </a:solidFill>
                <a:latin typeface="Poppins" panose="00000500000000000000" pitchFamily="2" charset="0"/>
                <a:cs typeface="Poppins" panose="00000500000000000000" pitchFamily="2" charset="0"/>
              </a:rPr>
              <a:t>, with government-backed pilots expected to expand from spring 2026, including services that people can book via an app. </a:t>
            </a:r>
          </a:p>
          <a:p>
            <a:br>
              <a:rPr lang="en-US" sz="1400" dirty="0">
                <a:solidFill>
                  <a:schemeClr val="bg2"/>
                </a:solidFill>
                <a:latin typeface="Poppins" panose="00000500000000000000" pitchFamily="2" charset="0"/>
                <a:cs typeface="Poppins" panose="00000500000000000000" pitchFamily="2" charset="0"/>
              </a:rPr>
            </a:br>
            <a:r>
              <a:rPr lang="en-US" sz="1400" dirty="0">
                <a:solidFill>
                  <a:schemeClr val="bg2"/>
                </a:solidFill>
                <a:latin typeface="Poppins" panose="00000500000000000000" pitchFamily="2" charset="0"/>
                <a:cs typeface="Poppins" panose="00000500000000000000" pitchFamily="2" charset="0"/>
                <a:hlinkClick r:id="rId5">
                  <a:extLst>
                    <a:ext uri="{A12FA001-AC4F-418D-AE19-62706E023703}">
                      <ahyp:hlinkClr xmlns:ahyp="http://schemas.microsoft.com/office/drawing/2018/hyperlinkcolor" val="tx"/>
                    </a:ext>
                  </a:extLst>
                </a:hlinkClick>
              </a:rPr>
              <a:t>Waymo has publicly signaled plans to expand to London </a:t>
            </a:r>
            <a:r>
              <a:rPr lang="en-US" sz="1400" dirty="0">
                <a:solidFill>
                  <a:schemeClr val="bg2"/>
                </a:solidFill>
                <a:latin typeface="Poppins" panose="00000500000000000000" pitchFamily="2" charset="0"/>
                <a:cs typeface="Poppins" panose="00000500000000000000" pitchFamily="2" charset="0"/>
              </a:rPr>
              <a:t>and intends to offer rides in 2026, with trials and validation activity in selected London boroughs. </a:t>
            </a:r>
          </a:p>
          <a:p>
            <a:endParaRPr lang="en-US" sz="1400" dirty="0">
              <a:solidFill>
                <a:schemeClr val="bg2"/>
              </a:solidFill>
              <a:latin typeface="Poppins" panose="00000500000000000000" pitchFamily="2" charset="0"/>
              <a:cs typeface="Poppins" panose="00000500000000000000" pitchFamily="2" charset="0"/>
            </a:endParaRPr>
          </a:p>
          <a:p>
            <a:r>
              <a:rPr lang="en-US" sz="1400" dirty="0">
                <a:solidFill>
                  <a:schemeClr val="bg2"/>
                </a:solidFill>
                <a:latin typeface="Poppins" panose="00000500000000000000" pitchFamily="2" charset="0"/>
                <a:cs typeface="Poppins" panose="00000500000000000000" pitchFamily="2" charset="0"/>
              </a:rPr>
              <a:t>The core challenge: the UK introduces new driving context and risk compared to US test environments—e.g., dense urban complexity, UK signage/markings, roundabouts, left-hand traffic, narrower streets, and different pedestrian/cyclist patterns.</a:t>
            </a:r>
          </a:p>
          <a:p>
            <a:endParaRPr lang="en-US" sz="1400" dirty="0">
              <a:solidFill>
                <a:schemeClr val="bg2"/>
              </a:solidFill>
              <a:latin typeface="Poppins" panose="00000500000000000000" pitchFamily="2" charset="0"/>
              <a:cs typeface="Poppins" panose="00000500000000000000" pitchFamily="2" charset="0"/>
            </a:endParaRPr>
          </a:p>
          <a:p>
            <a:r>
              <a:rPr lang="en-US" sz="1400" dirty="0">
                <a:solidFill>
                  <a:schemeClr val="bg2"/>
                </a:solidFill>
                <a:latin typeface="Poppins" panose="00000500000000000000" pitchFamily="2" charset="0"/>
                <a:cs typeface="Poppins" panose="00000500000000000000" pitchFamily="2" charset="0"/>
              </a:rPr>
              <a:t>This project is about building a </a:t>
            </a:r>
            <a:r>
              <a:rPr lang="en-US" sz="1400" b="1" dirty="0">
                <a:solidFill>
                  <a:schemeClr val="bg2"/>
                </a:solidFill>
                <a:latin typeface="Poppins" panose="00000500000000000000" pitchFamily="2" charset="0"/>
                <a:cs typeface="Poppins" panose="00000500000000000000" pitchFamily="2" charset="0"/>
              </a:rPr>
              <a:t>structured “edge-case intelligence loop”</a:t>
            </a:r>
            <a:r>
              <a:rPr lang="en-US" sz="1400" dirty="0">
                <a:solidFill>
                  <a:schemeClr val="bg2"/>
                </a:solidFill>
                <a:latin typeface="Poppins" panose="00000500000000000000" pitchFamily="2" charset="0"/>
                <a:cs typeface="Poppins" panose="00000500000000000000" pitchFamily="2" charset="0"/>
              </a:rPr>
              <a:t>:</a:t>
            </a:r>
          </a:p>
          <a:p>
            <a:endParaRPr lang="en-US" sz="1400" b="1" dirty="0">
              <a:solidFill>
                <a:schemeClr val="tx2"/>
              </a:solidFill>
              <a:latin typeface="Poppins" panose="00000500000000000000" pitchFamily="2" charset="0"/>
              <a:cs typeface="Poppins" panose="00000500000000000000" pitchFamily="2" charset="0"/>
            </a:endParaRPr>
          </a:p>
          <a:p>
            <a:pPr marL="457200" indent="-457200">
              <a:spcAft>
                <a:spcPts val="1200"/>
              </a:spcAft>
              <a:buFont typeface="+mj-lt"/>
              <a:buAutoNum type="arabicPeriod"/>
            </a:pPr>
            <a:r>
              <a:rPr lang="en-US" sz="1400" dirty="0">
                <a:solidFill>
                  <a:schemeClr val="tx2"/>
                </a:solidFill>
                <a:latin typeface="Poppins" panose="00000500000000000000" pitchFamily="2" charset="0"/>
                <a:cs typeface="Poppins" panose="00000500000000000000" pitchFamily="2" charset="0"/>
              </a:rPr>
              <a:t>capture real-world problematic scenarios (near-misses, collisions, confusion events)</a:t>
            </a:r>
          </a:p>
          <a:p>
            <a:pPr marL="457200" indent="-457200">
              <a:spcAft>
                <a:spcPts val="1200"/>
              </a:spcAft>
              <a:buFont typeface="+mj-lt"/>
              <a:buAutoNum type="arabicPeriod"/>
            </a:pPr>
            <a:r>
              <a:rPr lang="en-US" sz="1400" dirty="0" err="1">
                <a:solidFill>
                  <a:schemeClr val="tx2"/>
                </a:solidFill>
                <a:latin typeface="Poppins" panose="00000500000000000000" pitchFamily="2" charset="0"/>
                <a:cs typeface="Poppins" panose="00000500000000000000" pitchFamily="2" charset="0"/>
              </a:rPr>
              <a:t>categorise</a:t>
            </a:r>
            <a:r>
              <a:rPr lang="en-US" sz="1400" dirty="0">
                <a:solidFill>
                  <a:schemeClr val="tx2"/>
                </a:solidFill>
                <a:latin typeface="Poppins" panose="00000500000000000000" pitchFamily="2" charset="0"/>
                <a:cs typeface="Poppins" panose="00000500000000000000" pitchFamily="2" charset="0"/>
              </a:rPr>
              <a:t> + extract what happened (scene, actors, trigger conditions)</a:t>
            </a:r>
          </a:p>
          <a:p>
            <a:pPr marL="457200" indent="-457200">
              <a:spcAft>
                <a:spcPts val="1200"/>
              </a:spcAft>
              <a:buFont typeface="+mj-lt"/>
              <a:buAutoNum type="arabicPeriod"/>
            </a:pPr>
            <a:r>
              <a:rPr lang="en-US" sz="1400" dirty="0">
                <a:solidFill>
                  <a:schemeClr val="tx2"/>
                </a:solidFill>
                <a:latin typeface="Poppins" panose="00000500000000000000" pitchFamily="2" charset="0"/>
                <a:cs typeface="Poppins" panose="00000500000000000000" pitchFamily="2" charset="0"/>
              </a:rPr>
              <a:t>create a searchable knowledge base to support iteration (model fixes, policy, operations, safety case evidence)</a:t>
            </a:r>
          </a:p>
        </p:txBody>
      </p:sp>
      <p:pic>
        <p:nvPicPr>
          <p:cNvPr id="2" name="Picture 1">
            <a:extLst>
              <a:ext uri="{FF2B5EF4-FFF2-40B4-BE49-F238E27FC236}">
                <a16:creationId xmlns:a16="http://schemas.microsoft.com/office/drawing/2014/main" id="{4D573A7F-B680-B60A-1942-2824FC4DADE7}"/>
              </a:ext>
            </a:extLst>
          </p:cNvPr>
          <p:cNvPicPr>
            <a:picLocks noChangeAspect="1"/>
          </p:cNvPicPr>
          <p:nvPr/>
        </p:nvPicPr>
        <p:blipFill>
          <a:blip r:embed="rId6"/>
          <a:srcRect l="1379" t="1896" r="2538" b="1067"/>
          <a:stretch>
            <a:fillRect/>
          </a:stretch>
        </p:blipFill>
        <p:spPr>
          <a:xfrm>
            <a:off x="7696199" y="1219200"/>
            <a:ext cx="4013200" cy="5050103"/>
          </a:xfrm>
          <a:prstGeom prst="rect">
            <a:avLst/>
          </a:prstGeom>
        </p:spPr>
      </p:pic>
    </p:spTree>
    <p:extLst>
      <p:ext uri="{BB962C8B-B14F-4D97-AF65-F5344CB8AC3E}">
        <p14:creationId xmlns:p14="http://schemas.microsoft.com/office/powerpoint/2010/main" val="2888325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E27E17C-7F0C-BCB0-D787-F17A431A0149}"/>
            </a:ext>
          </a:extLst>
        </p:cNvPr>
        <p:cNvGrpSpPr/>
        <p:nvPr/>
      </p:nvGrpSpPr>
      <p:grpSpPr>
        <a:xfrm>
          <a:off x="0" y="0"/>
          <a:ext cx="0" cy="0"/>
          <a:chOff x="0" y="0"/>
          <a:chExt cx="0" cy="0"/>
        </a:xfrm>
      </p:grpSpPr>
      <p:pic>
        <p:nvPicPr>
          <p:cNvPr id="11" name="Logo-White">
            <a:extLst>
              <a:ext uri="{FF2B5EF4-FFF2-40B4-BE49-F238E27FC236}">
                <a16:creationId xmlns:a16="http://schemas.microsoft.com/office/drawing/2014/main" id="{14F845BE-84D7-B9A6-11B3-C3535D3B68F4}"/>
              </a:ext>
            </a:extLst>
          </p:cNvPr>
          <p:cNvPicPr/>
          <p:nvPr/>
        </p:nvPicPr>
        <p:blipFill>
          <a:blip r:embed="rId3"/>
          <a:srcRect/>
          <a:stretch/>
        </p:blipFill>
        <p:spPr>
          <a:xfrm>
            <a:off x="10380525" y="404813"/>
            <a:ext cx="1440000" cy="342178"/>
          </a:xfrm>
          <a:prstGeom prst="rect">
            <a:avLst/>
          </a:prstGeom>
        </p:spPr>
      </p:pic>
      <p:sp>
        <p:nvSpPr>
          <p:cNvPr id="12" name="Subtitle 2">
            <a:extLst>
              <a:ext uri="{FF2B5EF4-FFF2-40B4-BE49-F238E27FC236}">
                <a16:creationId xmlns:a16="http://schemas.microsoft.com/office/drawing/2014/main" id="{12A96FE0-D1B3-9366-456D-30514ADCDA69}"/>
              </a:ext>
            </a:extLst>
          </p:cNvPr>
          <p:cNvSpPr txBox="1">
            <a:spLocks/>
          </p:cNvSpPr>
          <p:nvPr/>
        </p:nvSpPr>
        <p:spPr>
          <a:xfrm>
            <a:off x="206500" y="0"/>
            <a:ext cx="9020277" cy="1411624"/>
          </a:xfrm>
          <a:prstGeom prst="rect">
            <a:avLst/>
          </a:prstGeom>
          <a:solidFill>
            <a:schemeClr val="accent1"/>
          </a:solidFill>
        </p:spPr>
        <p:txBody>
          <a:bodyPr vert="horz" lIns="9000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sz="5400" b="1" dirty="0">
                <a:solidFill>
                  <a:schemeClr val="accent5"/>
                </a:solidFill>
                <a:latin typeface="Poppins" pitchFamily="2" charset="77"/>
                <a:cs typeface="Poppins" pitchFamily="2" charset="77"/>
              </a:rPr>
              <a:t>Data Overview</a:t>
            </a:r>
          </a:p>
        </p:txBody>
      </p:sp>
      <p:sp>
        <p:nvSpPr>
          <p:cNvPr id="4" name="TextBox 3">
            <a:extLst>
              <a:ext uri="{FF2B5EF4-FFF2-40B4-BE49-F238E27FC236}">
                <a16:creationId xmlns:a16="http://schemas.microsoft.com/office/drawing/2014/main" id="{DAB823DE-912D-A6B2-8BD8-88C671F83883}"/>
              </a:ext>
            </a:extLst>
          </p:cNvPr>
          <p:cNvSpPr txBox="1"/>
          <p:nvPr/>
        </p:nvSpPr>
        <p:spPr>
          <a:xfrm>
            <a:off x="206500" y="1411624"/>
            <a:ext cx="11442576" cy="5139869"/>
          </a:xfrm>
          <a:prstGeom prst="rect">
            <a:avLst/>
          </a:prstGeom>
          <a:noFill/>
        </p:spPr>
        <p:txBody>
          <a:bodyPr wrap="square">
            <a:spAutoFit/>
          </a:bodyPr>
          <a:lstStyle/>
          <a:p>
            <a:pPr>
              <a:spcAft>
                <a:spcPts val="1200"/>
              </a:spcAft>
            </a:pPr>
            <a:r>
              <a:rPr lang="en-GB" sz="1600" b="1" dirty="0">
                <a:solidFill>
                  <a:schemeClr val="tx2"/>
                </a:solidFill>
                <a:latin typeface="Poppins" panose="00000500000000000000" pitchFamily="2" charset="0"/>
                <a:cs typeface="Poppins" panose="00000500000000000000" pitchFamily="2" charset="0"/>
                <a:hlinkClick r:id="rId4">
                  <a:extLst>
                    <a:ext uri="{A12FA001-AC4F-418D-AE19-62706E023703}">
                      <ahyp:hlinkClr xmlns:ahyp="http://schemas.microsoft.com/office/drawing/2018/hyperlinkcolor" val="tx"/>
                    </a:ext>
                  </a:extLst>
                </a:hlinkClick>
              </a:rPr>
              <a:t>Nexar Dashcam Collision Prediction Dataset</a:t>
            </a:r>
            <a:endParaRPr lang="en-GB" sz="1600" b="1" dirty="0">
              <a:solidFill>
                <a:schemeClr val="tx2"/>
              </a:solidFill>
              <a:latin typeface="Poppins" panose="00000500000000000000" pitchFamily="2" charset="0"/>
              <a:cs typeface="Poppins" panose="00000500000000000000" pitchFamily="2" charset="0"/>
            </a:endParaRPr>
          </a:p>
          <a:p>
            <a:pPr marL="285750" indent="-285750">
              <a:spcAft>
                <a:spcPts val="1200"/>
              </a:spcAft>
              <a:buFont typeface="Arial" panose="020B0604020202020204" pitchFamily="34" charset="0"/>
              <a:buChar char="•"/>
            </a:pPr>
            <a:r>
              <a:rPr lang="en-GB" sz="1600" dirty="0">
                <a:solidFill>
                  <a:schemeClr val="bg2"/>
                </a:solidFill>
                <a:latin typeface="Poppins" panose="00000500000000000000" pitchFamily="2" charset="0"/>
                <a:cs typeface="Poppins" panose="00000500000000000000" pitchFamily="2" charset="0"/>
              </a:rPr>
              <a:t>1,500 real-world dashcam clips (~40s each) covering collisions, near-collisions, and normal driving, with explicit incident labels.</a:t>
            </a:r>
          </a:p>
          <a:p>
            <a:pPr marL="285750" indent="-285750">
              <a:spcAft>
                <a:spcPts val="1200"/>
              </a:spcAft>
              <a:buFont typeface="Arial" panose="020B0604020202020204" pitchFamily="34" charset="0"/>
              <a:buChar char="•"/>
            </a:pPr>
            <a:r>
              <a:rPr lang="en-GB" sz="1600" dirty="0">
                <a:solidFill>
                  <a:schemeClr val="bg2"/>
                </a:solidFill>
                <a:latin typeface="Poppins" panose="00000500000000000000" pitchFamily="2" charset="0"/>
                <a:cs typeface="Poppins" panose="00000500000000000000" pitchFamily="2" charset="0"/>
              </a:rPr>
              <a:t>Open (MIT-style license), suitable for research and model training.</a:t>
            </a:r>
            <a:br>
              <a:rPr lang="en-GB" sz="1600" dirty="0">
                <a:solidFill>
                  <a:schemeClr val="bg2"/>
                </a:solidFill>
                <a:latin typeface="Poppins" panose="00000500000000000000" pitchFamily="2" charset="0"/>
                <a:cs typeface="Poppins" panose="00000500000000000000" pitchFamily="2" charset="0"/>
              </a:rPr>
            </a:br>
            <a:endParaRPr lang="en-GB" sz="1600" dirty="0">
              <a:solidFill>
                <a:schemeClr val="bg2"/>
              </a:solidFill>
              <a:latin typeface="Poppins" panose="00000500000000000000" pitchFamily="2" charset="0"/>
              <a:cs typeface="Poppins" panose="00000500000000000000" pitchFamily="2" charset="0"/>
            </a:endParaRPr>
          </a:p>
          <a:p>
            <a:pPr>
              <a:spcAft>
                <a:spcPts val="1200"/>
              </a:spcAft>
            </a:pPr>
            <a:r>
              <a:rPr lang="en-GB" sz="1600" b="1" dirty="0">
                <a:solidFill>
                  <a:schemeClr val="bg2"/>
                </a:solidFill>
                <a:latin typeface="Poppins" panose="00000500000000000000" pitchFamily="2" charset="0"/>
                <a:cs typeface="Poppins" panose="00000500000000000000" pitchFamily="2" charset="0"/>
              </a:rPr>
              <a:t>NIDB – Near-miss Incident Database</a:t>
            </a:r>
          </a:p>
          <a:p>
            <a:pPr marL="285750" indent="-285750">
              <a:spcAft>
                <a:spcPts val="1200"/>
              </a:spcAft>
              <a:buFont typeface="Arial" panose="020B0604020202020204" pitchFamily="34" charset="0"/>
              <a:buChar char="•"/>
            </a:pPr>
            <a:r>
              <a:rPr lang="en-GB" sz="1600" dirty="0">
                <a:solidFill>
                  <a:schemeClr val="bg2"/>
                </a:solidFill>
                <a:latin typeface="Poppins" panose="00000500000000000000" pitchFamily="2" charset="0"/>
                <a:cs typeface="Poppins" panose="00000500000000000000" pitchFamily="2" charset="0"/>
              </a:rPr>
              <a:t>Large-scale taxi-mounted video dataset focused specifically on near-miss scenarios (pedestrians, cyclists, vehicles).</a:t>
            </a:r>
          </a:p>
          <a:p>
            <a:pPr marL="285750" indent="-285750">
              <a:spcAft>
                <a:spcPts val="1200"/>
              </a:spcAft>
              <a:buFont typeface="Arial" panose="020B0604020202020204" pitchFamily="34" charset="0"/>
              <a:buChar char="•"/>
            </a:pPr>
            <a:r>
              <a:rPr lang="en-GB" sz="1600" dirty="0">
                <a:solidFill>
                  <a:schemeClr val="bg2"/>
                </a:solidFill>
                <a:latin typeface="Poppins" panose="00000500000000000000" pitchFamily="2" charset="0"/>
                <a:cs typeface="Poppins" panose="00000500000000000000" pitchFamily="2" charset="0"/>
              </a:rPr>
              <a:t>Research dataset designed for dangerous situation recognition; access typically requested via authors.</a:t>
            </a:r>
            <a:br>
              <a:rPr lang="en-GB" sz="1600" dirty="0">
                <a:solidFill>
                  <a:schemeClr val="bg2"/>
                </a:solidFill>
                <a:latin typeface="Poppins" panose="00000500000000000000" pitchFamily="2" charset="0"/>
                <a:cs typeface="Poppins" panose="00000500000000000000" pitchFamily="2" charset="0"/>
              </a:rPr>
            </a:br>
            <a:endParaRPr lang="en-GB" sz="1600" dirty="0">
              <a:solidFill>
                <a:schemeClr val="bg2"/>
              </a:solidFill>
              <a:latin typeface="Poppins" panose="00000500000000000000" pitchFamily="2" charset="0"/>
              <a:cs typeface="Poppins" panose="00000500000000000000" pitchFamily="2" charset="0"/>
            </a:endParaRPr>
          </a:p>
          <a:p>
            <a:pPr>
              <a:spcAft>
                <a:spcPts val="1200"/>
              </a:spcAft>
            </a:pPr>
            <a:r>
              <a:rPr lang="en-GB" sz="1600" b="1" dirty="0" err="1">
                <a:solidFill>
                  <a:schemeClr val="bg2"/>
                </a:solidFill>
                <a:latin typeface="Poppins" panose="00000500000000000000" pitchFamily="2" charset="0"/>
                <a:cs typeface="Poppins" panose="00000500000000000000" pitchFamily="2" charset="0"/>
              </a:rPr>
              <a:t>SAVeD</a:t>
            </a:r>
            <a:r>
              <a:rPr lang="en-GB" sz="1600" b="1" dirty="0">
                <a:solidFill>
                  <a:schemeClr val="bg2"/>
                </a:solidFill>
                <a:latin typeface="Poppins" panose="00000500000000000000" pitchFamily="2" charset="0"/>
                <a:cs typeface="Poppins" panose="00000500000000000000" pitchFamily="2" charset="0"/>
              </a:rPr>
              <a:t> (ADAS near-miss / crash social-media dataset)</a:t>
            </a:r>
          </a:p>
          <a:p>
            <a:pPr marL="285750" indent="-285750">
              <a:spcAft>
                <a:spcPts val="1200"/>
              </a:spcAft>
              <a:buFont typeface="Arial" panose="020B0604020202020204" pitchFamily="34" charset="0"/>
              <a:buChar char="•"/>
            </a:pPr>
            <a:r>
              <a:rPr lang="en-GB" sz="1600" dirty="0">
                <a:solidFill>
                  <a:schemeClr val="bg2"/>
                </a:solidFill>
                <a:latin typeface="Poppins" panose="00000500000000000000" pitchFamily="2" charset="0"/>
                <a:cs typeface="Poppins" panose="00000500000000000000" pitchFamily="2" charset="0"/>
              </a:rPr>
              <a:t>2,119 first-person videos of ADAS-equipped vehicles, with frame-level labels for collisions, evasive manoeuvres, and disengagements.</a:t>
            </a:r>
          </a:p>
          <a:p>
            <a:pPr marL="285750" indent="-285750">
              <a:spcAft>
                <a:spcPts val="1200"/>
              </a:spcAft>
              <a:buFont typeface="Arial" panose="020B0604020202020204" pitchFamily="34" charset="0"/>
              <a:buChar char="•"/>
            </a:pPr>
            <a:r>
              <a:rPr lang="en-GB" sz="1600" dirty="0">
                <a:solidFill>
                  <a:schemeClr val="bg2"/>
                </a:solidFill>
                <a:latin typeface="Poppins" panose="00000500000000000000" pitchFamily="2" charset="0"/>
                <a:cs typeface="Poppins" panose="00000500000000000000" pitchFamily="2" charset="0"/>
              </a:rPr>
              <a:t>Built to analyse high-risk edge cases and system failures in automated driving systems.</a:t>
            </a:r>
          </a:p>
          <a:p>
            <a:pPr marL="742950" lvl="1" indent="-285750">
              <a:spcAft>
                <a:spcPts val="1200"/>
              </a:spcAft>
              <a:buFont typeface="Arial" panose="020B0604020202020204" pitchFamily="34" charset="0"/>
              <a:buChar char="•"/>
            </a:pPr>
            <a:endParaRPr lang="en-US" sz="1400" dirty="0">
              <a:solidFill>
                <a:schemeClr val="bg2"/>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20556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8C3B3C-7FFF-F197-154B-F29C184E6D83}"/>
            </a:ext>
          </a:extLst>
        </p:cNvPr>
        <p:cNvGrpSpPr/>
        <p:nvPr/>
      </p:nvGrpSpPr>
      <p:grpSpPr>
        <a:xfrm>
          <a:off x="0" y="0"/>
          <a:ext cx="0" cy="0"/>
          <a:chOff x="0" y="0"/>
          <a:chExt cx="0" cy="0"/>
        </a:xfrm>
      </p:grpSpPr>
      <p:sp>
        <p:nvSpPr>
          <p:cNvPr id="12" name="Subtitle 2">
            <a:extLst>
              <a:ext uri="{FF2B5EF4-FFF2-40B4-BE49-F238E27FC236}">
                <a16:creationId xmlns:a16="http://schemas.microsoft.com/office/drawing/2014/main" id="{1F837689-2C9E-F638-C0E3-658B058C6458}"/>
              </a:ext>
            </a:extLst>
          </p:cNvPr>
          <p:cNvSpPr txBox="1">
            <a:spLocks/>
          </p:cNvSpPr>
          <p:nvPr/>
        </p:nvSpPr>
        <p:spPr>
          <a:xfrm>
            <a:off x="164167" y="-21076"/>
            <a:ext cx="9020277" cy="1411624"/>
          </a:xfrm>
          <a:prstGeom prst="rect">
            <a:avLst/>
          </a:prstGeom>
          <a:solidFill>
            <a:schemeClr val="bg1"/>
          </a:solidFill>
        </p:spPr>
        <p:txBody>
          <a:bodyPr vert="horz" lIns="9000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sz="5400" b="1" dirty="0">
                <a:latin typeface="Poppins" pitchFamily="2" charset="77"/>
                <a:cs typeface="Poppins" pitchFamily="2" charset="77"/>
              </a:rPr>
              <a:t>Technical Deliverables</a:t>
            </a:r>
          </a:p>
        </p:txBody>
      </p:sp>
      <p:sp>
        <p:nvSpPr>
          <p:cNvPr id="4" name="TextBox 3">
            <a:extLst>
              <a:ext uri="{FF2B5EF4-FFF2-40B4-BE49-F238E27FC236}">
                <a16:creationId xmlns:a16="http://schemas.microsoft.com/office/drawing/2014/main" id="{BA3A1FEE-F726-59BE-7825-408CF2937967}"/>
              </a:ext>
            </a:extLst>
          </p:cNvPr>
          <p:cNvSpPr txBox="1"/>
          <p:nvPr/>
        </p:nvSpPr>
        <p:spPr>
          <a:xfrm>
            <a:off x="164167" y="1051299"/>
            <a:ext cx="11442576" cy="400110"/>
          </a:xfrm>
          <a:prstGeom prst="rect">
            <a:avLst/>
          </a:prstGeom>
          <a:noFill/>
        </p:spPr>
        <p:txBody>
          <a:bodyPr wrap="square">
            <a:spAutoFit/>
          </a:bodyPr>
          <a:lstStyle/>
          <a:p>
            <a:pPr marL="0" lvl="1">
              <a:spcAft>
                <a:spcPts val="1800"/>
              </a:spcAft>
            </a:pPr>
            <a:r>
              <a:rPr lang="en-US" sz="2000" dirty="0">
                <a:solidFill>
                  <a:schemeClr val="accent1"/>
                </a:solidFill>
                <a:latin typeface="Poppins" panose="00000500000000000000" pitchFamily="2" charset="0"/>
                <a:cs typeface="Poppins" panose="00000500000000000000" pitchFamily="2" charset="0"/>
              </a:rPr>
              <a:t>There are 2 key strands of work that you can put more/less focus on.</a:t>
            </a:r>
          </a:p>
        </p:txBody>
      </p:sp>
      <p:sp>
        <p:nvSpPr>
          <p:cNvPr id="3" name="TextBox 2">
            <a:extLst>
              <a:ext uri="{FF2B5EF4-FFF2-40B4-BE49-F238E27FC236}">
                <a16:creationId xmlns:a16="http://schemas.microsoft.com/office/drawing/2014/main" id="{36210D24-510C-B5EC-5230-A241F549E74E}"/>
              </a:ext>
            </a:extLst>
          </p:cNvPr>
          <p:cNvSpPr txBox="1"/>
          <p:nvPr/>
        </p:nvSpPr>
        <p:spPr>
          <a:xfrm>
            <a:off x="164167" y="1540858"/>
            <a:ext cx="11130367" cy="5293757"/>
          </a:xfrm>
          <a:prstGeom prst="rect">
            <a:avLst/>
          </a:prstGeom>
          <a:noFill/>
        </p:spPr>
        <p:txBody>
          <a:bodyPr wrap="square">
            <a:spAutoFit/>
          </a:bodyPr>
          <a:lstStyle/>
          <a:p>
            <a:pPr marL="0" lvl="1">
              <a:spcAft>
                <a:spcPts val="1800"/>
              </a:spcAft>
            </a:pPr>
            <a:r>
              <a:rPr lang="en-US" sz="2400" b="1" dirty="0">
                <a:latin typeface="Poppins" panose="00000500000000000000" pitchFamily="2" charset="0"/>
                <a:cs typeface="Poppins" panose="00000500000000000000" pitchFamily="2" charset="0"/>
              </a:rPr>
              <a:t>1) Machine Learning Model Development</a:t>
            </a:r>
          </a:p>
          <a:p>
            <a:pPr marL="180000" lvl="2">
              <a:spcAft>
                <a:spcPts val="600"/>
              </a:spcAft>
            </a:pPr>
            <a:r>
              <a:rPr lang="en-US" sz="1600" dirty="0">
                <a:solidFill>
                  <a:schemeClr val="accent1"/>
                </a:solidFill>
                <a:latin typeface="Poppins" panose="00000500000000000000" pitchFamily="2" charset="0"/>
                <a:cs typeface="Poppins" panose="00000500000000000000" pitchFamily="2" charset="0"/>
              </a:rPr>
              <a:t>Event type classification: near miss vs minor contact vs collision vs autonomy hesitation/confusion</a:t>
            </a:r>
          </a:p>
          <a:p>
            <a:pPr marL="180000" lvl="2">
              <a:spcAft>
                <a:spcPts val="600"/>
              </a:spcAft>
            </a:pPr>
            <a:r>
              <a:rPr lang="en-US" sz="1600" dirty="0">
                <a:solidFill>
                  <a:schemeClr val="accent1"/>
                </a:solidFill>
                <a:latin typeface="Poppins" panose="00000500000000000000" pitchFamily="2" charset="0"/>
                <a:cs typeface="Poppins" panose="00000500000000000000" pitchFamily="2" charset="0"/>
              </a:rPr>
              <a:t>Actor + interaction extraction: who interacted with whom (vehicle-pedestrian, cyclist, merging conflicts)</a:t>
            </a:r>
          </a:p>
          <a:p>
            <a:pPr marL="180000" lvl="2">
              <a:spcAft>
                <a:spcPts val="600"/>
              </a:spcAft>
            </a:pPr>
            <a:endParaRPr lang="en-US" sz="1600" dirty="0">
              <a:solidFill>
                <a:schemeClr val="accent1"/>
              </a:solidFill>
              <a:latin typeface="Poppins" panose="00000500000000000000" pitchFamily="2" charset="0"/>
              <a:cs typeface="Poppins" panose="00000500000000000000" pitchFamily="2" charset="0"/>
            </a:endParaRPr>
          </a:p>
          <a:p>
            <a:pPr marL="180000" lvl="2">
              <a:spcAft>
                <a:spcPts val="600"/>
              </a:spcAft>
            </a:pPr>
            <a:r>
              <a:rPr lang="en-US" sz="1600" dirty="0">
                <a:solidFill>
                  <a:schemeClr val="accent1"/>
                </a:solidFill>
                <a:latin typeface="Poppins" panose="00000500000000000000" pitchFamily="2" charset="0"/>
                <a:cs typeface="Poppins" panose="00000500000000000000" pitchFamily="2" charset="0"/>
              </a:rPr>
              <a:t>Suggested incident categories:</a:t>
            </a:r>
          </a:p>
          <a:p>
            <a:pPr marL="576000" lvl="2" indent="-396000">
              <a:spcAft>
                <a:spcPts val="600"/>
              </a:spcAft>
              <a:buFont typeface="Arial" panose="020B0604020202020204" pitchFamily="34" charset="0"/>
              <a:buChar char="•"/>
            </a:pPr>
            <a:r>
              <a:rPr lang="en-US" sz="1600" b="1" dirty="0">
                <a:solidFill>
                  <a:schemeClr val="accent1"/>
                </a:solidFill>
                <a:latin typeface="Poppins" panose="00000500000000000000" pitchFamily="2" charset="0"/>
                <a:cs typeface="Poppins" panose="00000500000000000000" pitchFamily="2" charset="0"/>
              </a:rPr>
              <a:t>Road geometry: </a:t>
            </a:r>
            <a:r>
              <a:rPr lang="en-US" sz="1600" dirty="0">
                <a:solidFill>
                  <a:schemeClr val="accent1"/>
                </a:solidFill>
                <a:latin typeface="Poppins" panose="00000500000000000000" pitchFamily="2" charset="0"/>
                <a:cs typeface="Poppins" panose="00000500000000000000" pitchFamily="2" charset="0"/>
              </a:rPr>
              <a:t>roundabout, multi-lane junction, complex merges, narrow </a:t>
            </a:r>
            <a:r>
              <a:rPr lang="en-US" sz="1600" dirty="0" err="1">
                <a:solidFill>
                  <a:schemeClr val="accent1"/>
                </a:solidFill>
                <a:latin typeface="Poppins" panose="00000500000000000000" pitchFamily="2" charset="0"/>
                <a:cs typeface="Poppins" panose="00000500000000000000" pitchFamily="2" charset="0"/>
              </a:rPr>
              <a:t>roadsTemporary</a:t>
            </a:r>
            <a:r>
              <a:rPr lang="en-US" sz="1600" dirty="0">
                <a:solidFill>
                  <a:schemeClr val="accent1"/>
                </a:solidFill>
                <a:latin typeface="Poppins" panose="00000500000000000000" pitchFamily="2" charset="0"/>
                <a:cs typeface="Poppins" panose="00000500000000000000" pitchFamily="2" charset="0"/>
              </a:rPr>
              <a:t> changes: roadworks, cones, temporary lights, diverted lanes</a:t>
            </a:r>
          </a:p>
          <a:p>
            <a:pPr marL="576000" lvl="2" indent="-396000">
              <a:spcAft>
                <a:spcPts val="600"/>
              </a:spcAft>
              <a:buFont typeface="Arial" panose="020B0604020202020204" pitchFamily="34" charset="0"/>
              <a:buChar char="•"/>
            </a:pPr>
            <a:r>
              <a:rPr lang="en-US" sz="1600" b="1" dirty="0">
                <a:solidFill>
                  <a:schemeClr val="accent1"/>
                </a:solidFill>
                <a:latin typeface="Poppins" panose="00000500000000000000" pitchFamily="2" charset="0"/>
                <a:cs typeface="Poppins" panose="00000500000000000000" pitchFamily="2" charset="0"/>
              </a:rPr>
              <a:t>Vulnerable users: </a:t>
            </a:r>
            <a:r>
              <a:rPr lang="en-US" sz="1600" dirty="0">
                <a:solidFill>
                  <a:schemeClr val="accent1"/>
                </a:solidFill>
                <a:latin typeface="Poppins" panose="00000500000000000000" pitchFamily="2" charset="0"/>
                <a:cs typeface="Poppins" panose="00000500000000000000" pitchFamily="2" charset="0"/>
              </a:rPr>
              <a:t>cyclists filtering, pedestrians stepping out, mobility aids, prams</a:t>
            </a:r>
          </a:p>
          <a:p>
            <a:pPr marL="576000" lvl="2" indent="-396000">
              <a:spcAft>
                <a:spcPts val="600"/>
              </a:spcAft>
              <a:buFont typeface="Arial" panose="020B0604020202020204" pitchFamily="34" charset="0"/>
              <a:buChar char="•"/>
            </a:pPr>
            <a:r>
              <a:rPr lang="en-US" sz="1600" b="1" dirty="0" err="1">
                <a:solidFill>
                  <a:schemeClr val="accent1"/>
                </a:solidFill>
                <a:latin typeface="Poppins" panose="00000500000000000000" pitchFamily="2" charset="0"/>
                <a:cs typeface="Poppins" panose="00000500000000000000" pitchFamily="2" charset="0"/>
              </a:rPr>
              <a:t>Behavioural</a:t>
            </a:r>
            <a:r>
              <a:rPr lang="en-US" sz="1600" b="1" dirty="0">
                <a:solidFill>
                  <a:schemeClr val="accent1"/>
                </a:solidFill>
                <a:latin typeface="Poppins" panose="00000500000000000000" pitchFamily="2" charset="0"/>
                <a:cs typeface="Poppins" panose="00000500000000000000" pitchFamily="2" charset="0"/>
              </a:rPr>
              <a:t> edge cases: </a:t>
            </a:r>
            <a:r>
              <a:rPr lang="en-US" sz="1600" dirty="0">
                <a:solidFill>
                  <a:schemeClr val="accent1"/>
                </a:solidFill>
                <a:latin typeface="Poppins" panose="00000500000000000000" pitchFamily="2" charset="0"/>
                <a:cs typeface="Poppins" panose="00000500000000000000" pitchFamily="2" charset="0"/>
              </a:rPr>
              <a:t>aggressive cut-ins, illegal turns, sudden braking, informal yielding</a:t>
            </a:r>
          </a:p>
          <a:p>
            <a:pPr marL="576000" lvl="2" indent="-396000">
              <a:spcAft>
                <a:spcPts val="600"/>
              </a:spcAft>
              <a:buFont typeface="Arial" panose="020B0604020202020204" pitchFamily="34" charset="0"/>
              <a:buChar char="•"/>
            </a:pPr>
            <a:r>
              <a:rPr lang="en-US" sz="1600" b="1" dirty="0">
                <a:solidFill>
                  <a:schemeClr val="accent1"/>
                </a:solidFill>
                <a:latin typeface="Poppins" panose="00000500000000000000" pitchFamily="2" charset="0"/>
                <a:cs typeface="Poppins" panose="00000500000000000000" pitchFamily="2" charset="0"/>
              </a:rPr>
              <a:t>Environment: </a:t>
            </a:r>
            <a:r>
              <a:rPr lang="en-US" sz="1600" dirty="0">
                <a:solidFill>
                  <a:schemeClr val="accent1"/>
                </a:solidFill>
                <a:latin typeface="Poppins" panose="00000500000000000000" pitchFamily="2" charset="0"/>
                <a:cs typeface="Poppins" panose="00000500000000000000" pitchFamily="2" charset="0"/>
              </a:rPr>
              <a:t>glare/night/rain + reflections + puddles/spray</a:t>
            </a:r>
          </a:p>
          <a:p>
            <a:pPr marL="180000" lvl="2">
              <a:spcAft>
                <a:spcPts val="600"/>
              </a:spcAft>
            </a:pPr>
            <a:endParaRPr lang="en-US" sz="1600" dirty="0">
              <a:solidFill>
                <a:schemeClr val="accent1"/>
              </a:solidFill>
              <a:latin typeface="Poppins" panose="00000500000000000000" pitchFamily="2" charset="0"/>
              <a:cs typeface="Poppins" panose="00000500000000000000" pitchFamily="2" charset="0"/>
            </a:endParaRPr>
          </a:p>
          <a:p>
            <a:pPr marL="180000" lvl="2">
              <a:spcAft>
                <a:spcPts val="600"/>
              </a:spcAft>
            </a:pPr>
            <a:r>
              <a:rPr lang="en-US" sz="1600" b="1" dirty="0">
                <a:solidFill>
                  <a:schemeClr val="accent1"/>
                </a:solidFill>
                <a:latin typeface="Poppins" panose="00000500000000000000" pitchFamily="2" charset="0"/>
                <a:cs typeface="Poppins" panose="00000500000000000000" pitchFamily="2" charset="0"/>
              </a:rPr>
              <a:t>Multimodal </a:t>
            </a:r>
            <a:r>
              <a:rPr lang="en-US" sz="1600" b="1" dirty="0" err="1">
                <a:solidFill>
                  <a:schemeClr val="accent1"/>
                </a:solidFill>
                <a:latin typeface="Poppins" panose="00000500000000000000" pitchFamily="2" charset="0"/>
                <a:cs typeface="Poppins" panose="00000500000000000000" pitchFamily="2" charset="0"/>
              </a:rPr>
              <a:t>summarisation</a:t>
            </a:r>
            <a:r>
              <a:rPr lang="en-US" sz="1600" dirty="0">
                <a:solidFill>
                  <a:schemeClr val="accent1"/>
                </a:solidFill>
                <a:latin typeface="Poppins" panose="00000500000000000000" pitchFamily="2" charset="0"/>
                <a:cs typeface="Poppins" panose="00000500000000000000" pitchFamily="2" charset="0"/>
              </a:rPr>
              <a:t>: generate a short “incident card” from video + user text</a:t>
            </a:r>
          </a:p>
          <a:p>
            <a:pPr marL="180000" lvl="2">
              <a:spcAft>
                <a:spcPts val="600"/>
              </a:spcAft>
            </a:pPr>
            <a:r>
              <a:rPr lang="en-US" sz="1600" b="1" dirty="0">
                <a:solidFill>
                  <a:schemeClr val="accent1"/>
                </a:solidFill>
                <a:latin typeface="Poppins" panose="00000500000000000000" pitchFamily="2" charset="0"/>
                <a:cs typeface="Poppins" panose="00000500000000000000" pitchFamily="2" charset="0"/>
              </a:rPr>
              <a:t>Similarity search (should be simple given last step): </a:t>
            </a:r>
            <a:r>
              <a:rPr lang="en-US" sz="1600" dirty="0">
                <a:solidFill>
                  <a:schemeClr val="accent1"/>
                </a:solidFill>
                <a:latin typeface="Poppins" panose="00000500000000000000" pitchFamily="2" charset="0"/>
                <a:cs typeface="Poppins" panose="00000500000000000000" pitchFamily="2" charset="0"/>
              </a:rPr>
              <a:t>embeddings to find “cases like this” (build an edge-case library, not just a label bucket)</a:t>
            </a:r>
          </a:p>
          <a:p>
            <a:pPr marL="180000" lvl="2">
              <a:spcAft>
                <a:spcPts val="600"/>
              </a:spcAft>
            </a:pPr>
            <a:r>
              <a:rPr lang="en-US" sz="1600" b="1" dirty="0">
                <a:solidFill>
                  <a:schemeClr val="accent1"/>
                </a:solidFill>
                <a:latin typeface="Poppins" panose="00000500000000000000" pitchFamily="2" charset="0"/>
                <a:cs typeface="Poppins" panose="00000500000000000000" pitchFamily="2" charset="0"/>
              </a:rPr>
              <a:t>Test different models: </a:t>
            </a:r>
            <a:r>
              <a:rPr lang="en-US" sz="1600" dirty="0">
                <a:solidFill>
                  <a:schemeClr val="accent1"/>
                </a:solidFill>
                <a:latin typeface="Poppins" panose="00000500000000000000" pitchFamily="2" charset="0"/>
                <a:cs typeface="Poppins" panose="00000500000000000000" pitchFamily="2" charset="0"/>
              </a:rPr>
              <a:t>video-transformers (</a:t>
            </a:r>
            <a:r>
              <a:rPr lang="en-US" sz="1600" dirty="0" err="1">
                <a:solidFill>
                  <a:schemeClr val="accent1"/>
                </a:solidFill>
                <a:latin typeface="Poppins" panose="00000500000000000000" pitchFamily="2" charset="0"/>
                <a:cs typeface="Poppins" panose="00000500000000000000" pitchFamily="2" charset="0"/>
              </a:rPr>
              <a:t>ViT</a:t>
            </a:r>
            <a:r>
              <a:rPr lang="en-US" sz="1600" dirty="0">
                <a:solidFill>
                  <a:schemeClr val="accent1"/>
                </a:solidFill>
                <a:latin typeface="Poppins" panose="00000500000000000000" pitchFamily="2" charset="0"/>
                <a:cs typeface="Poppins" panose="00000500000000000000" pitchFamily="2" charset="0"/>
              </a:rPr>
              <a:t>), vs. key-frame extraction + image transformer (Could be open ai out-of-the-box) - What works best? Why?</a:t>
            </a:r>
            <a:endParaRPr lang="en-US" sz="1600" b="1" dirty="0">
              <a:solidFill>
                <a:schemeClr val="accent1"/>
              </a:solidFill>
              <a:latin typeface="Poppins" panose="00000500000000000000" pitchFamily="2" charset="0"/>
              <a:cs typeface="Poppins" panose="00000500000000000000" pitchFamily="2" charset="0"/>
            </a:endParaRPr>
          </a:p>
        </p:txBody>
      </p:sp>
      <p:pic>
        <p:nvPicPr>
          <p:cNvPr id="6" name="Logo-Black" descr="A black background with a black square&#10;&#10;Description automatically generated with medium confidence">
            <a:extLst>
              <a:ext uri="{FF2B5EF4-FFF2-40B4-BE49-F238E27FC236}">
                <a16:creationId xmlns:a16="http://schemas.microsoft.com/office/drawing/2014/main" id="{C590A8DD-C4B6-ADEC-EF48-885EBC13F95C}"/>
              </a:ext>
            </a:extLst>
          </p:cNvPr>
          <p:cNvPicPr/>
          <p:nvPr/>
        </p:nvPicPr>
        <p:blipFill>
          <a:blip r:embed="rId3"/>
          <a:stretch>
            <a:fillRect/>
          </a:stretch>
        </p:blipFill>
        <p:spPr>
          <a:xfrm>
            <a:off x="10380525" y="404813"/>
            <a:ext cx="1440000" cy="342179"/>
          </a:xfrm>
          <a:prstGeom prst="rect">
            <a:avLst/>
          </a:prstGeom>
        </p:spPr>
      </p:pic>
    </p:spTree>
    <p:extLst>
      <p:ext uri="{BB962C8B-B14F-4D97-AF65-F5344CB8AC3E}">
        <p14:creationId xmlns:p14="http://schemas.microsoft.com/office/powerpoint/2010/main" val="3747334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7E842D-FFA0-CADF-0081-13C24E23135B}"/>
            </a:ext>
          </a:extLst>
        </p:cNvPr>
        <p:cNvGrpSpPr/>
        <p:nvPr/>
      </p:nvGrpSpPr>
      <p:grpSpPr>
        <a:xfrm>
          <a:off x="0" y="0"/>
          <a:ext cx="0" cy="0"/>
          <a:chOff x="0" y="0"/>
          <a:chExt cx="0" cy="0"/>
        </a:xfrm>
      </p:grpSpPr>
      <p:sp>
        <p:nvSpPr>
          <p:cNvPr id="12" name="Subtitle 2">
            <a:extLst>
              <a:ext uri="{FF2B5EF4-FFF2-40B4-BE49-F238E27FC236}">
                <a16:creationId xmlns:a16="http://schemas.microsoft.com/office/drawing/2014/main" id="{35CCAB04-0B88-710F-09CE-D42E7D2F38FB}"/>
              </a:ext>
            </a:extLst>
          </p:cNvPr>
          <p:cNvSpPr txBox="1">
            <a:spLocks/>
          </p:cNvSpPr>
          <p:nvPr/>
        </p:nvSpPr>
        <p:spPr>
          <a:xfrm>
            <a:off x="104900" y="-142799"/>
            <a:ext cx="9020277" cy="1411624"/>
          </a:xfrm>
          <a:prstGeom prst="rect">
            <a:avLst/>
          </a:prstGeom>
          <a:solidFill>
            <a:schemeClr val="bg1"/>
          </a:solidFill>
        </p:spPr>
        <p:txBody>
          <a:bodyPr vert="horz" lIns="9000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1000"/>
              </a:spcAft>
              <a:buNone/>
            </a:pPr>
            <a:r>
              <a:rPr lang="en-US" sz="5400" b="1" dirty="0">
                <a:latin typeface="Poppins" pitchFamily="2" charset="77"/>
                <a:cs typeface="Poppins" pitchFamily="2" charset="77"/>
              </a:rPr>
              <a:t>Technical Deliverables</a:t>
            </a:r>
          </a:p>
        </p:txBody>
      </p:sp>
      <p:sp>
        <p:nvSpPr>
          <p:cNvPr id="4" name="TextBox 3">
            <a:extLst>
              <a:ext uri="{FF2B5EF4-FFF2-40B4-BE49-F238E27FC236}">
                <a16:creationId xmlns:a16="http://schemas.microsoft.com/office/drawing/2014/main" id="{B93BB46F-F1A4-878F-F298-D2EBF278FB3E}"/>
              </a:ext>
            </a:extLst>
          </p:cNvPr>
          <p:cNvSpPr txBox="1"/>
          <p:nvPr/>
        </p:nvSpPr>
        <p:spPr>
          <a:xfrm>
            <a:off x="104900" y="929576"/>
            <a:ext cx="11442576" cy="400110"/>
          </a:xfrm>
          <a:prstGeom prst="rect">
            <a:avLst/>
          </a:prstGeom>
          <a:noFill/>
        </p:spPr>
        <p:txBody>
          <a:bodyPr wrap="square">
            <a:spAutoFit/>
          </a:bodyPr>
          <a:lstStyle/>
          <a:p>
            <a:pPr marL="0" lvl="1">
              <a:spcAft>
                <a:spcPts val="1800"/>
              </a:spcAft>
            </a:pPr>
            <a:r>
              <a:rPr lang="en-US" sz="2000" dirty="0">
                <a:solidFill>
                  <a:schemeClr val="accent1"/>
                </a:solidFill>
                <a:latin typeface="Poppins" panose="00000500000000000000" pitchFamily="2" charset="0"/>
                <a:cs typeface="Poppins" panose="00000500000000000000" pitchFamily="2" charset="0"/>
              </a:rPr>
              <a:t>There are 2 key strands of work that you can put more/less focus on.</a:t>
            </a:r>
          </a:p>
        </p:txBody>
      </p:sp>
      <p:sp>
        <p:nvSpPr>
          <p:cNvPr id="3" name="TextBox 2">
            <a:extLst>
              <a:ext uri="{FF2B5EF4-FFF2-40B4-BE49-F238E27FC236}">
                <a16:creationId xmlns:a16="http://schemas.microsoft.com/office/drawing/2014/main" id="{AB575903-E462-27A6-7607-BC06FF64CF22}"/>
              </a:ext>
            </a:extLst>
          </p:cNvPr>
          <p:cNvSpPr txBox="1"/>
          <p:nvPr/>
        </p:nvSpPr>
        <p:spPr>
          <a:xfrm>
            <a:off x="104900" y="1512270"/>
            <a:ext cx="11553700" cy="4739759"/>
          </a:xfrm>
          <a:prstGeom prst="rect">
            <a:avLst/>
          </a:prstGeom>
          <a:noFill/>
        </p:spPr>
        <p:txBody>
          <a:bodyPr wrap="square">
            <a:spAutoFit/>
          </a:bodyPr>
          <a:lstStyle/>
          <a:p>
            <a:pPr marL="0" lvl="1">
              <a:spcAft>
                <a:spcPts val="1800"/>
              </a:spcAft>
            </a:pPr>
            <a:r>
              <a:rPr lang="en-US" sz="3200" b="1" dirty="0">
                <a:latin typeface="Poppins" panose="00000500000000000000" pitchFamily="2" charset="0"/>
                <a:cs typeface="Poppins" panose="00000500000000000000" pitchFamily="2" charset="0"/>
              </a:rPr>
              <a:t>2) Online Platform + Data Pipelines </a:t>
            </a:r>
          </a:p>
          <a:p>
            <a:pPr marL="0" lvl="1">
              <a:spcAft>
                <a:spcPts val="1800"/>
              </a:spcAft>
            </a:pPr>
            <a:r>
              <a:rPr lang="en-US" sz="2000" dirty="0">
                <a:solidFill>
                  <a:schemeClr val="accent1"/>
                </a:solidFill>
                <a:latin typeface="Poppins" panose="00000500000000000000" pitchFamily="2" charset="0"/>
                <a:cs typeface="Poppins" panose="00000500000000000000" pitchFamily="2" charset="0"/>
              </a:rPr>
              <a:t>Design an end-to-end system that allows secure submission and analysis.</a:t>
            </a:r>
          </a:p>
          <a:p>
            <a:pPr marL="285750" lvl="1" indent="-285750">
              <a:spcAft>
                <a:spcPts val="1200"/>
              </a:spcAft>
              <a:buFont typeface="Arial" panose="020B0604020202020204" pitchFamily="34" charset="0"/>
              <a:buChar char="•"/>
            </a:pPr>
            <a:r>
              <a:rPr lang="en-GB" sz="2000" dirty="0">
                <a:solidFill>
                  <a:schemeClr val="accent1"/>
                </a:solidFill>
                <a:latin typeface="Poppins" panose="00000500000000000000" pitchFamily="2" charset="0"/>
                <a:cs typeface="Poppins" panose="00000500000000000000" pitchFamily="2" charset="0"/>
              </a:rPr>
              <a:t>Simple web interface to upload video + quick manual tags + short narrative + add location</a:t>
            </a:r>
          </a:p>
          <a:p>
            <a:pPr marL="285750" indent="-285750">
              <a:spcAft>
                <a:spcPts val="1200"/>
              </a:spcAft>
              <a:buFont typeface="Arial" panose="020B0604020202020204" pitchFamily="34" charset="0"/>
              <a:buChar char="•"/>
            </a:pPr>
            <a:r>
              <a:rPr lang="en-GB" sz="2000" dirty="0">
                <a:solidFill>
                  <a:schemeClr val="accent1"/>
                </a:solidFill>
                <a:latin typeface="Poppins" panose="00000500000000000000" pitchFamily="2" charset="0"/>
                <a:cs typeface="Poppins" panose="00000500000000000000" pitchFamily="2" charset="0"/>
              </a:rPr>
              <a:t>Scalable storage + metadata DB (</a:t>
            </a:r>
            <a:r>
              <a:rPr lang="en-GB" sz="2000" dirty="0" err="1">
                <a:solidFill>
                  <a:schemeClr val="accent1"/>
                </a:solidFill>
                <a:latin typeface="Poppins" panose="00000500000000000000" pitchFamily="2" charset="0"/>
                <a:cs typeface="Poppins" panose="00000500000000000000" pitchFamily="2" charset="0"/>
              </a:rPr>
              <a:t>queryable</a:t>
            </a:r>
            <a:r>
              <a:rPr lang="en-GB" sz="2000" dirty="0">
                <a:solidFill>
                  <a:schemeClr val="accent1"/>
                </a:solidFill>
                <a:latin typeface="Poppins" panose="00000500000000000000" pitchFamily="2" charset="0"/>
                <a:cs typeface="Poppins" panose="00000500000000000000" pitchFamily="2" charset="0"/>
              </a:rPr>
              <a:t>)</a:t>
            </a:r>
          </a:p>
          <a:p>
            <a:pPr marL="285750" indent="-285750">
              <a:spcAft>
                <a:spcPts val="1200"/>
              </a:spcAft>
              <a:buFont typeface="Arial" panose="020B0604020202020204" pitchFamily="34" charset="0"/>
              <a:buChar char="•"/>
            </a:pPr>
            <a:r>
              <a:rPr lang="en-GB" sz="2000" dirty="0">
                <a:solidFill>
                  <a:schemeClr val="accent1"/>
                </a:solidFill>
                <a:latin typeface="Poppins" panose="00000500000000000000" pitchFamily="2" charset="0"/>
                <a:cs typeface="Poppins" panose="00000500000000000000" pitchFamily="2" charset="0"/>
              </a:rPr>
              <a:t>Incident overview visuals (map of incidents with counts, headline figures)</a:t>
            </a:r>
          </a:p>
          <a:p>
            <a:pPr marL="285750" indent="-285750">
              <a:spcAft>
                <a:spcPts val="1200"/>
              </a:spcAft>
              <a:buFont typeface="Arial" panose="020B0604020202020204" pitchFamily="34" charset="0"/>
              <a:buChar char="•"/>
            </a:pPr>
            <a:r>
              <a:rPr lang="en-GB" sz="2000" dirty="0">
                <a:solidFill>
                  <a:schemeClr val="accent1"/>
                </a:solidFill>
                <a:latin typeface="Poppins" panose="00000500000000000000" pitchFamily="2" charset="0"/>
                <a:cs typeface="Poppins" panose="00000500000000000000" pitchFamily="2" charset="0"/>
              </a:rPr>
              <a:t>Override automatically assigned tags (track where changes are made and add to ‘training set’.</a:t>
            </a:r>
          </a:p>
          <a:p>
            <a:pPr marL="285750" indent="-285750">
              <a:spcAft>
                <a:spcPts val="1200"/>
              </a:spcAft>
              <a:buFont typeface="Arial" panose="020B0604020202020204" pitchFamily="34" charset="0"/>
              <a:buChar char="•"/>
            </a:pPr>
            <a:r>
              <a:rPr lang="en-GB" sz="2000" dirty="0">
                <a:solidFill>
                  <a:schemeClr val="accent1"/>
                </a:solidFill>
                <a:latin typeface="Poppins" panose="00000500000000000000" pitchFamily="2" charset="0"/>
                <a:cs typeface="Poppins" panose="00000500000000000000" pitchFamily="2" charset="0"/>
              </a:rPr>
              <a:t>Admin tools: Manual annotation interface, export for research partners, high-level analytics (types of incidents over time, frequency, spikes in category type (more detailed than what is shown to user.</a:t>
            </a:r>
          </a:p>
        </p:txBody>
      </p:sp>
      <p:pic>
        <p:nvPicPr>
          <p:cNvPr id="6" name="Logo-Black" descr="A black background with a black square&#10;&#10;Description automatically generated with medium confidence">
            <a:extLst>
              <a:ext uri="{FF2B5EF4-FFF2-40B4-BE49-F238E27FC236}">
                <a16:creationId xmlns:a16="http://schemas.microsoft.com/office/drawing/2014/main" id="{13120A01-6475-1D88-69AC-D29D5C1E42F4}"/>
              </a:ext>
            </a:extLst>
          </p:cNvPr>
          <p:cNvPicPr/>
          <p:nvPr/>
        </p:nvPicPr>
        <p:blipFill>
          <a:blip r:embed="rId3"/>
          <a:stretch>
            <a:fillRect/>
          </a:stretch>
        </p:blipFill>
        <p:spPr>
          <a:xfrm>
            <a:off x="10380525" y="404813"/>
            <a:ext cx="1440000" cy="342179"/>
          </a:xfrm>
          <a:prstGeom prst="rect">
            <a:avLst/>
          </a:prstGeom>
        </p:spPr>
      </p:pic>
    </p:spTree>
    <p:extLst>
      <p:ext uri="{BB962C8B-B14F-4D97-AF65-F5344CB8AC3E}">
        <p14:creationId xmlns:p14="http://schemas.microsoft.com/office/powerpoint/2010/main" val="327820607"/>
      </p:ext>
    </p:extLst>
  </p:cSld>
  <p:clrMapOvr>
    <a:masterClrMapping/>
  </p:clrMapOvr>
</p:sld>
</file>

<file path=ppt/theme/theme1.xml><?xml version="1.0" encoding="utf-8"?>
<a:theme xmlns:a="http://schemas.openxmlformats.org/drawingml/2006/main" name="Brand2024">
  <a:themeElements>
    <a:clrScheme name="DG Cities">
      <a:dk1>
        <a:srgbClr val="000000"/>
      </a:dk1>
      <a:lt1>
        <a:srgbClr val="FFFFFF"/>
      </a:lt1>
      <a:dk2>
        <a:srgbClr val="CFEF6C"/>
      </a:dk2>
      <a:lt2>
        <a:srgbClr val="F3F0F0"/>
      </a:lt2>
      <a:accent1>
        <a:srgbClr val="035341"/>
      </a:accent1>
      <a:accent2>
        <a:srgbClr val="5F5FFF"/>
      </a:accent2>
      <a:accent3>
        <a:srgbClr val="CCABFF"/>
      </a:accent3>
      <a:accent4>
        <a:srgbClr val="FFEA83"/>
      </a:accent4>
      <a:accent5>
        <a:srgbClr val="A3E551"/>
      </a:accent5>
      <a:accent6>
        <a:srgbClr val="00CCB3"/>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rand2024" id="{2CC615AF-1FF8-4644-B021-CB46814CDB14}" vid="{9BB17D64-C014-498D-A6F9-992EB13D4C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Brand2024</Template>
  <TotalTime>1991</TotalTime>
  <Words>892</Words>
  <Application>Microsoft Office PowerPoint</Application>
  <PresentationFormat>Widescreen</PresentationFormat>
  <Paragraphs>63</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Poppins</vt:lpstr>
      <vt:lpstr>Brand2024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Nima Karshenas</dc:creator>
  <cp:lastModifiedBy>balazs.csuvar</cp:lastModifiedBy>
  <cp:revision>28</cp:revision>
  <dcterms:created xsi:type="dcterms:W3CDTF">2025-03-11T13:58:47Z</dcterms:created>
  <dcterms:modified xsi:type="dcterms:W3CDTF">2026-02-24T12:49:33Z</dcterms:modified>
</cp:coreProperties>
</file>